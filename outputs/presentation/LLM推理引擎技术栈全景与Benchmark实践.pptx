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4" r:id="rId29"/>
    <p:sldId id="281" r:id="rId30"/>
    <p:sldId id="283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35"/>
    <a:srgbClr val="F6F6F6"/>
    <a:srgbClr val="F5F5F5"/>
    <a:srgbClr val="E1E4E7"/>
    <a:srgbClr val="041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大家好，今天我想用 30 分钟，把过去一个月围绕 LLM 推理引擎的调研串起来。</a:t>
            </a:r>
          </a:p>
          <a:p/>
          <a:p>
            <a:r>
              <a:t>这次分享不只是列举 vLLM、SGLang、TensorRT-LLM、lmdeploy 的差异，而是回答一个更实际的问题：一个大模型从“能跑”到“能稳定服务”，中间到底要经过哪些系统层面的设计取舍。</a:t>
            </a:r>
          </a:p>
          <a:p/>
          <a:p>
            <a:r>
              <a:t>主线会从 attention 计算优化开始，往上讲 serving runtime、KV Cache、工具调用与结构化输出，最后落到评测闭环和 benchmark 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这一页我想先把 </a:t>
            </a:r>
            <a:r>
              <a:rPr lang="en-US" altLang="zh-CN"/>
              <a:t>FlashAttention </a:t>
            </a:r>
            <a:r>
              <a:rPr lang="zh-CN" altLang="en-US"/>
              <a:t>放回一个更基础的问题里：</a:t>
            </a:r>
            <a:r>
              <a:rPr lang="en-US" altLang="zh-CN"/>
              <a:t>attention </a:t>
            </a:r>
            <a:r>
              <a:rPr lang="zh-CN" altLang="en-US"/>
              <a:t>本身怎么算，为什么会慢。</a:t>
            </a:r>
            <a:endParaRPr lang="zh-CN" altLang="en-US"/>
          </a:p>
          <a:p>
            <a:r>
              <a:rPr lang="zh-CN" altLang="en-US"/>
              <a:t>标准 </a:t>
            </a:r>
            <a:r>
              <a:rPr lang="en-US" altLang="zh-CN"/>
              <a:t>softmax </a:t>
            </a:r>
            <a:r>
              <a:rPr lang="zh-CN" altLang="en-US"/>
              <a:t>为了数值稳定，会先扫一遍找到最大值，再扫一遍计算指数和分母，最后再算概率。这个过程没错，但它需要多次访问同一批数据。</a:t>
            </a:r>
            <a:r>
              <a:rPr lang="en-US" altLang="zh-CN"/>
              <a:t>Online Softmax </a:t>
            </a:r>
            <a:r>
              <a:rPr lang="zh-CN" altLang="en-US"/>
              <a:t>的改进点是：我不等所有数据都读完再算，而是一边读，一边维护两个状态：当前最大值 </a:t>
            </a:r>
            <a:r>
              <a:rPr lang="en-US" altLang="zh-CN"/>
              <a:t>m，</a:t>
            </a:r>
            <a:r>
              <a:rPr lang="zh-CN" altLang="en-US"/>
              <a:t>以及归一化分母 </a:t>
            </a:r>
            <a:r>
              <a:rPr lang="en-US" altLang="zh-CN"/>
              <a:t>l。</a:t>
            </a:r>
            <a:r>
              <a:rPr lang="zh-CN" altLang="en-US"/>
              <a:t>只要新的 </a:t>
            </a:r>
            <a:r>
              <a:rPr lang="en-US" altLang="zh-CN"/>
              <a:t>block </a:t>
            </a:r>
            <a:r>
              <a:rPr lang="zh-CN" altLang="en-US"/>
              <a:t>进来，就把旧状态重新缩放，再和新 </a:t>
            </a:r>
            <a:r>
              <a:rPr lang="en-US" altLang="zh-CN"/>
              <a:t>block </a:t>
            </a:r>
            <a:r>
              <a:rPr lang="zh-CN" altLang="en-US"/>
              <a:t>合并。</a:t>
            </a:r>
            <a:endParaRPr lang="zh-CN" altLang="en-US"/>
          </a:p>
          <a:p>
            <a:r>
              <a:rPr lang="zh-CN" altLang="en-US"/>
              <a:t>所以 </a:t>
            </a:r>
            <a:r>
              <a:rPr lang="en-US" altLang="zh-CN"/>
              <a:t>Online Softmax </a:t>
            </a:r>
            <a:r>
              <a:rPr lang="zh-CN" altLang="en-US"/>
              <a:t>的核心不是“近似”，而是“流式地得到同样正确的 </a:t>
            </a:r>
            <a:r>
              <a:rPr lang="en-US" altLang="zh-CN"/>
              <a:t>softmax </a:t>
            </a:r>
            <a:r>
              <a:rPr lang="zh-CN" altLang="en-US"/>
              <a:t>结果”。这一步非常关键，因为 </a:t>
            </a:r>
            <a:r>
              <a:rPr lang="en-US" altLang="zh-CN"/>
              <a:t>FlashAttention </a:t>
            </a:r>
            <a:r>
              <a:rPr lang="zh-CN" altLang="en-US"/>
              <a:t>后面能分块计算 </a:t>
            </a:r>
            <a:r>
              <a:rPr lang="en-US" altLang="zh-CN"/>
              <a:t>attention，</a:t>
            </a:r>
            <a:r>
              <a:rPr lang="zh-CN" altLang="en-US"/>
              <a:t>靠的就是这个能力：即使 </a:t>
            </a:r>
            <a:r>
              <a:rPr lang="en-US" altLang="zh-CN"/>
              <a:t>QK</a:t>
            </a:r>
            <a:r>
              <a:rPr lang="" altLang="en-US"/>
              <a:t>ᵀ </a:t>
            </a:r>
            <a:r>
              <a:rPr lang="zh-CN" altLang="en-US"/>
              <a:t>被拆成一块一块算，也能维护全局正确的 </a:t>
            </a:r>
            <a:r>
              <a:rPr lang="en-US" altLang="zh-CN"/>
              <a:t>softmax </a:t>
            </a:r>
            <a:r>
              <a:rPr lang="zh-CN" altLang="en-US"/>
              <a:t>归一化结果。</a:t>
            </a:r>
            <a:endParaRPr lang="zh-CN" altLang="en-US"/>
          </a:p>
          <a:p>
            <a:endParaRPr lang="zh-CN" altLang="en-US"/>
          </a:p>
          <a:p>
            <a:r>
              <a:t>这一步的意义是：我们开始不再把完整的中间结果全部存下来，而是用数学等价的增量计算减少显存访问。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FlashAttention 就是在这个思路上继续往前走。</a:t>
            </a:r>
          </a:p>
          <a:p/>
          <a:p>
            <a:r>
              <a:t>普通 attention 会显式生成 N 乘 N 的 score 矩阵和概率矩阵，这两个矩阵很大，而且会在 HBM 里反复读写。FlashAttention 把 Q、K、V 分块搬到更快的片上存储里，用 Online Softmax 的方法在块之间维护正确结果。</a:t>
            </a:r>
          </a:p>
          <a:p/>
          <a:p>
            <a:r>
              <a:t>所以它不是近似 attention，而是精确 attention。它真正改变的是数据搬运路径：少写中间矩阵，多在片上完成计算。后面 PagedAttention、RadixAttention 虽然处理的是 KV Cache 和调度问题，但它们共享的是同一个系统哲学：不要让显存访问成为瓶颈。</a:t>
            </a:r>
          </a:p>
          <a:p/>
          <a:p>
            <a:r>
              <a:rPr lang="zh-CN" altLang="en-US"/>
              <a:t>这一页重点解释 </a:t>
            </a:r>
            <a:r>
              <a:rPr lang="en-US" altLang="zh-CN"/>
              <a:t>FlashAttention </a:t>
            </a:r>
            <a:r>
              <a:rPr lang="zh-CN" altLang="en-US"/>
              <a:t>到底省在哪里。</a:t>
            </a:r>
            <a:endParaRPr lang="zh-CN" altLang="en-US"/>
          </a:p>
          <a:p>
            <a:r>
              <a:rPr lang="zh-CN" altLang="en-US"/>
              <a:t>标准 </a:t>
            </a:r>
            <a:r>
              <a:rPr lang="en-US" altLang="zh-CN"/>
              <a:t>Attention </a:t>
            </a:r>
            <a:r>
              <a:rPr lang="zh-CN" altLang="en-US"/>
              <a:t>的计算公式是 </a:t>
            </a:r>
            <a:r>
              <a:rPr lang="en-US" altLang="zh-CN"/>
              <a:t>O = softmax(QK</a:t>
            </a:r>
            <a:r>
              <a:rPr lang="" altLang="en-US"/>
              <a:t>ᵀ)</a:t>
            </a:r>
            <a:r>
              <a:rPr lang="en-US" altLang="zh-CN"/>
              <a:t>V。</a:t>
            </a:r>
            <a:r>
              <a:rPr lang="zh-CN" altLang="en-US"/>
              <a:t>直觉上我们会先算出完整的 </a:t>
            </a:r>
            <a:r>
              <a:rPr lang="en-US" altLang="zh-CN"/>
              <a:t>S = QK</a:t>
            </a:r>
            <a:r>
              <a:rPr lang="" altLang="en-US"/>
              <a:t>ᵀ，</a:t>
            </a:r>
            <a:r>
              <a:rPr lang="zh-CN" altLang="en-US"/>
              <a:t>这是一个 </a:t>
            </a:r>
            <a:r>
              <a:rPr lang="en-US" altLang="zh-CN"/>
              <a:t>N×N </a:t>
            </a:r>
            <a:r>
              <a:rPr lang="zh-CN" altLang="en-US"/>
              <a:t>矩阵；再对 </a:t>
            </a:r>
            <a:r>
              <a:rPr lang="en-US" altLang="zh-CN"/>
              <a:t>S </a:t>
            </a:r>
            <a:r>
              <a:rPr lang="zh-CN" altLang="en-US"/>
              <a:t>做 </a:t>
            </a:r>
            <a:r>
              <a:rPr lang="en-US" altLang="zh-CN"/>
              <a:t>softmax，</a:t>
            </a:r>
            <a:r>
              <a:rPr lang="zh-CN" altLang="en-US"/>
              <a:t>得到另一个 </a:t>
            </a:r>
            <a:r>
              <a:rPr lang="en-US" altLang="zh-CN"/>
              <a:t>N×N </a:t>
            </a:r>
            <a:r>
              <a:rPr lang="zh-CN" altLang="en-US"/>
              <a:t>的概率矩阵 </a:t>
            </a:r>
            <a:r>
              <a:rPr lang="en-US" altLang="zh-CN"/>
              <a:t>P；</a:t>
            </a:r>
            <a:r>
              <a:rPr lang="zh-CN" altLang="en-US"/>
              <a:t>最后再算 </a:t>
            </a:r>
            <a:r>
              <a:rPr lang="en-US" altLang="zh-CN"/>
              <a:t>P V。</a:t>
            </a:r>
            <a:r>
              <a:rPr lang="zh-CN" altLang="en-US"/>
              <a:t>问题是，</a:t>
            </a:r>
            <a:r>
              <a:rPr lang="en-US" altLang="zh-CN"/>
              <a:t>S </a:t>
            </a:r>
            <a:r>
              <a:rPr lang="zh-CN" altLang="en-US"/>
              <a:t>和 </a:t>
            </a:r>
            <a:r>
              <a:rPr lang="en-US" altLang="zh-CN"/>
              <a:t>P </a:t>
            </a:r>
            <a:r>
              <a:rPr lang="zh-CN" altLang="en-US"/>
              <a:t>都会随着上下文长度平方增长，而且它们会被写入 </a:t>
            </a:r>
            <a:r>
              <a:rPr lang="en-US" altLang="zh-CN"/>
              <a:t>HBM，</a:t>
            </a:r>
            <a:r>
              <a:rPr lang="zh-CN" altLang="en-US"/>
              <a:t>再从 </a:t>
            </a:r>
            <a:r>
              <a:rPr lang="en-US" altLang="zh-CN"/>
              <a:t>HBM </a:t>
            </a:r>
            <a:r>
              <a:rPr lang="zh-CN" altLang="en-US"/>
              <a:t>读出来继续算。</a:t>
            </a:r>
            <a:endParaRPr lang="zh-CN" altLang="en-US"/>
          </a:p>
          <a:p>
            <a:r>
              <a:rPr lang="en-US" altLang="zh-CN"/>
              <a:t>FlashAttention </a:t>
            </a:r>
            <a:r>
              <a:rPr lang="zh-CN" altLang="en-US"/>
              <a:t>的做法是：不要把完整的 </a:t>
            </a:r>
            <a:r>
              <a:rPr lang="en-US" altLang="zh-CN"/>
              <a:t>S </a:t>
            </a:r>
            <a:r>
              <a:rPr lang="zh-CN" altLang="en-US"/>
              <a:t>和 </a:t>
            </a:r>
            <a:r>
              <a:rPr lang="en-US" altLang="zh-CN"/>
              <a:t>P </a:t>
            </a:r>
            <a:r>
              <a:rPr lang="zh-CN" altLang="en-US"/>
              <a:t>当成大矩阵写回显存。它把 </a:t>
            </a:r>
            <a:r>
              <a:rPr lang="en-US" altLang="zh-CN"/>
              <a:t>Q、K、V </a:t>
            </a:r>
            <a:r>
              <a:rPr lang="zh-CN" altLang="en-US"/>
              <a:t>切成 </a:t>
            </a:r>
            <a:r>
              <a:rPr lang="en-US" altLang="zh-CN"/>
              <a:t>tile，</a:t>
            </a:r>
            <a:r>
              <a:rPr lang="zh-CN" altLang="en-US"/>
              <a:t>一块一块搬到更快的 </a:t>
            </a:r>
            <a:r>
              <a:rPr lang="en-US" altLang="zh-CN"/>
              <a:t>SRAM / register </a:t>
            </a:r>
            <a:r>
              <a:rPr lang="zh-CN" altLang="en-US"/>
              <a:t>里。在每个 </a:t>
            </a:r>
            <a:r>
              <a:rPr lang="en-US" altLang="zh-CN"/>
              <a:t>tile </a:t>
            </a:r>
            <a:r>
              <a:rPr lang="zh-CN" altLang="en-US"/>
              <a:t>里临时计算局部的 </a:t>
            </a:r>
            <a:r>
              <a:rPr lang="en-US" altLang="zh-CN"/>
              <a:t>QK</a:t>
            </a:r>
            <a:r>
              <a:rPr lang="" altLang="en-US"/>
              <a:t>ᵀ、</a:t>
            </a:r>
            <a:r>
              <a:rPr lang="en-US" altLang="zh-CN"/>
              <a:t>rowmax、rowsum，</a:t>
            </a:r>
            <a:r>
              <a:rPr lang="zh-CN" altLang="en-US"/>
              <a:t>再用 </a:t>
            </a:r>
            <a:r>
              <a:rPr lang="en-US" altLang="zh-CN"/>
              <a:t>Online Softmax </a:t>
            </a:r>
            <a:r>
              <a:rPr lang="zh-CN" altLang="en-US"/>
              <a:t>的方法更新全局的 </a:t>
            </a:r>
            <a:r>
              <a:rPr lang="en-US" altLang="zh-CN"/>
              <a:t>m、l </a:t>
            </a:r>
            <a:r>
              <a:rPr lang="zh-CN" altLang="en-US"/>
              <a:t>和输出 </a:t>
            </a:r>
            <a:r>
              <a:rPr lang="en-US" altLang="zh-CN"/>
              <a:t>O。</a:t>
            </a:r>
            <a:r>
              <a:rPr lang="zh-CN" altLang="en-US"/>
              <a:t>最后真正需要写回 </a:t>
            </a:r>
            <a:r>
              <a:rPr lang="en-US" altLang="zh-CN"/>
              <a:t>HBM </a:t>
            </a:r>
            <a:r>
              <a:rPr lang="zh-CN" altLang="en-US"/>
              <a:t>的，主要是最终输出 </a:t>
            </a:r>
            <a:r>
              <a:rPr lang="en-US" altLang="zh-CN"/>
              <a:t>O，</a:t>
            </a:r>
            <a:r>
              <a:rPr lang="zh-CN" altLang="en-US"/>
              <a:t>以及必要的 </a:t>
            </a:r>
            <a:r>
              <a:rPr lang="en-US" altLang="zh-CN"/>
              <a:t>LSE </a:t>
            </a:r>
            <a:r>
              <a:rPr lang="zh-CN" altLang="en-US"/>
              <a:t>信息。</a:t>
            </a:r>
            <a:endParaRPr lang="zh-CN" altLang="en-US"/>
          </a:p>
          <a:p>
            <a:r>
              <a:rPr lang="zh-CN" altLang="en-US"/>
              <a:t>所以它和标准 </a:t>
            </a:r>
            <a:r>
              <a:rPr lang="en-US" altLang="zh-CN"/>
              <a:t>Attention </a:t>
            </a:r>
            <a:r>
              <a:rPr lang="zh-CN" altLang="en-US"/>
              <a:t>得到的是同样的 </a:t>
            </a:r>
            <a:r>
              <a:rPr lang="en-US" altLang="zh-CN"/>
              <a:t>exact attention </a:t>
            </a:r>
            <a:r>
              <a:rPr lang="zh-CN" altLang="en-US"/>
              <a:t>结果，不是近似；但数据路径完全不同。标准 </a:t>
            </a:r>
            <a:r>
              <a:rPr lang="en-US" altLang="zh-CN"/>
              <a:t>Attention </a:t>
            </a:r>
            <a:r>
              <a:rPr lang="zh-CN" altLang="en-US"/>
              <a:t>是“先生成大中间矩阵，再反复读写”；</a:t>
            </a:r>
            <a:r>
              <a:rPr lang="en-US" altLang="zh-CN"/>
              <a:t>FlashAttention </a:t>
            </a:r>
            <a:r>
              <a:rPr lang="zh-CN" altLang="en-US"/>
              <a:t>是“中间矩阵只在片上短暂停留，算完就融合进输出”。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有了这个计算底座之后，我们再看完整系统。</a:t>
            </a:r>
          </a:p>
          <a:p/>
          <a:p>
            <a:r>
              <a:t>一个模型变成可靠服务，并不是把权重加载起来就结束了。它需要 API 层承接用户请求，需要调度层组织并发，需要 KV Cache 管理动态状态，也需要在 Agent 场景里正确解析工具调用和思考内容。</a:t>
            </a:r>
          </a:p>
          <a:p/>
          <a:p>
            <a:r>
              <a:t>因此这次调研的核心问题是：推理引擎到底在运行时替我们管理了什么，以及这些管理能力如何影响 benchmark </a:t>
            </a:r>
            <a:r>
              <a:rPr lang="zh-CN"/>
              <a:t>结果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我们调研</a:t>
            </a:r>
            <a:r>
              <a:rPr lang="zh-CN" altLang="en-US"/>
              <a:t>的是一条完整的推理服务链路。</a:t>
            </a:r>
            <a:endParaRPr lang="zh-CN" altLang="en-US"/>
          </a:p>
          <a:p>
            <a:r>
              <a:rPr lang="zh-CN" altLang="en-US"/>
              <a:t>最上层是用户请求。用户通常不是直接调用模型权重，而是通过 </a:t>
            </a:r>
            <a:r>
              <a:rPr lang="en-US" altLang="zh-CN"/>
              <a:t>OpenAI-compatible API </a:t>
            </a:r>
            <a:r>
              <a:rPr lang="zh-CN" altLang="en-US"/>
              <a:t>进入系统，请求里会包含 </a:t>
            </a:r>
            <a:r>
              <a:rPr lang="en-US" altLang="zh-CN"/>
              <a:t>messages、tools、stream、temperature </a:t>
            </a:r>
            <a:r>
              <a:rPr lang="zh-CN" altLang="en-US"/>
              <a:t>这些接口参数。</a:t>
            </a:r>
            <a:endParaRPr lang="zh-CN" altLang="en-US"/>
          </a:p>
          <a:p>
            <a:r>
              <a:rPr lang="zh-CN" altLang="en-US"/>
              <a:t>第二层是模板与协议。推理引擎需要把 </a:t>
            </a:r>
            <a:r>
              <a:rPr lang="en-US" altLang="zh-CN"/>
              <a:t>API </a:t>
            </a:r>
            <a:r>
              <a:rPr lang="zh-CN" altLang="en-US"/>
              <a:t>请求转换成模型真正能理解的输入，也就是 </a:t>
            </a:r>
            <a:r>
              <a:rPr lang="en-US" altLang="zh-CN"/>
              <a:t>chat template；</a:t>
            </a:r>
            <a:r>
              <a:rPr lang="zh-CN" altLang="en-US"/>
              <a:t>如果涉及工具调用，还要处理 </a:t>
            </a:r>
            <a:r>
              <a:rPr lang="en-US" altLang="zh-CN"/>
              <a:t>tools schema、tool calls </a:t>
            </a:r>
            <a:r>
              <a:rPr lang="zh-CN" altLang="en-US"/>
              <a:t>和 </a:t>
            </a:r>
            <a:r>
              <a:rPr lang="en-US" altLang="zh-CN"/>
              <a:t>reasoning content。</a:t>
            </a:r>
            <a:r>
              <a:rPr lang="zh-CN" altLang="en-US"/>
              <a:t>这里决定的是“请求语义”有没有被正确表达给模型。</a:t>
            </a:r>
            <a:endParaRPr lang="zh-CN" altLang="en-US"/>
          </a:p>
          <a:p>
            <a:r>
              <a:rPr lang="zh-CN" altLang="en-US"/>
              <a:t>第三层是调度与缓存。多个请求进入服务后，引擎要做 </a:t>
            </a:r>
            <a:r>
              <a:rPr lang="en-US" altLang="zh-CN"/>
              <a:t>continuous batching，</a:t>
            </a:r>
            <a:r>
              <a:rPr lang="zh-CN" altLang="en-US"/>
              <a:t>把不同请求组织到一起执行；同时还要管理 </a:t>
            </a:r>
            <a:r>
              <a:rPr lang="en-US" altLang="zh-CN"/>
              <a:t>KV Cache，</a:t>
            </a:r>
            <a:r>
              <a:rPr lang="zh-CN" altLang="en-US"/>
              <a:t>决定哪些上下文可以复用、哪些 </a:t>
            </a:r>
            <a:r>
              <a:rPr lang="en-US" altLang="zh-CN"/>
              <a:t>token </a:t>
            </a:r>
            <a:r>
              <a:rPr lang="zh-CN" altLang="en-US"/>
              <a:t>状态要保留、显存怎么分配。</a:t>
            </a:r>
            <a:endParaRPr lang="zh-CN" altLang="en-US"/>
          </a:p>
          <a:p>
            <a:r>
              <a:rPr lang="zh-CN" altLang="en-US"/>
              <a:t>第四层是 </a:t>
            </a:r>
            <a:r>
              <a:rPr lang="en-US" altLang="zh-CN"/>
              <a:t>GPU </a:t>
            </a:r>
            <a:r>
              <a:rPr lang="zh-CN" altLang="en-US"/>
              <a:t>执行。这里主要分成 </a:t>
            </a:r>
            <a:r>
              <a:rPr lang="en-US" altLang="zh-CN"/>
              <a:t>prefill </a:t>
            </a:r>
            <a:r>
              <a:rPr lang="zh-CN" altLang="en-US"/>
              <a:t>和 </a:t>
            </a:r>
            <a:r>
              <a:rPr lang="en-US" altLang="zh-CN"/>
              <a:t>decode </a:t>
            </a:r>
            <a:r>
              <a:rPr lang="zh-CN" altLang="en-US"/>
              <a:t>两个阶段：</a:t>
            </a:r>
            <a:r>
              <a:rPr lang="en-US" altLang="zh-CN"/>
              <a:t>prefill </a:t>
            </a:r>
            <a:r>
              <a:rPr lang="zh-CN" altLang="en-US"/>
              <a:t>处理输入上下文，</a:t>
            </a:r>
            <a:r>
              <a:rPr lang="en-US" altLang="zh-CN"/>
              <a:t>decode </a:t>
            </a:r>
            <a:r>
              <a:rPr lang="zh-CN" altLang="en-US"/>
              <a:t>逐 </a:t>
            </a:r>
            <a:r>
              <a:rPr lang="en-US" altLang="zh-CN"/>
              <a:t>token </a:t>
            </a:r>
            <a:r>
              <a:rPr lang="zh-CN" altLang="en-US"/>
              <a:t>生成输出；</a:t>
            </a:r>
            <a:r>
              <a:rPr lang="en-US" altLang="zh-CN"/>
              <a:t>attention kernel、FlashAttention、CUDA graph </a:t>
            </a:r>
            <a:r>
              <a:rPr lang="zh-CN" altLang="en-US"/>
              <a:t>这些优化主要发生在这一层。</a:t>
            </a:r>
            <a:endParaRPr lang="zh-CN" altLang="en-US"/>
          </a:p>
          <a:p>
            <a:r>
              <a:rPr lang="zh-CN" altLang="en-US"/>
              <a:t>最后一层</a:t>
            </a:r>
            <a:r>
              <a:rPr lang="zh-CN" altLang="en-US"/>
              <a:t>是输出与返回。推理完成后，系统把结果以 </a:t>
            </a:r>
            <a:r>
              <a:rPr lang="en-US" altLang="zh-CN"/>
              <a:t>streaming、tool call </a:t>
            </a:r>
            <a:r>
              <a:rPr lang="zh-CN" altLang="en-US"/>
              <a:t>或 </a:t>
            </a:r>
            <a:r>
              <a:rPr lang="en-US" altLang="zh-CN"/>
              <a:t>final response </a:t>
            </a:r>
            <a:r>
              <a:rPr lang="zh-CN" altLang="en-US"/>
              <a:t>的形式返回给用户。</a:t>
            </a:r>
            <a:endParaRPr lang="zh-CN" altLang="en-US"/>
          </a:p>
          <a:p>
            <a:r>
              <a:rPr lang="zh-CN" altLang="en-US"/>
              <a:t>而</a:t>
            </a:r>
            <a:r>
              <a:rPr lang="en-US" altLang="zh-CN"/>
              <a:t>benchmark </a:t>
            </a:r>
            <a:r>
              <a:rPr lang="zh-CN" altLang="en-US"/>
              <a:t>和 </a:t>
            </a:r>
            <a:r>
              <a:rPr lang="en-US" altLang="zh-CN"/>
              <a:t>eval </a:t>
            </a:r>
            <a:r>
              <a:rPr lang="zh-CN" altLang="en-US"/>
              <a:t>是外部观测层，用来验证这条链路的能力、性能和稳定性。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四份调研报告其实对应四个递进问题。</a:t>
            </a:r>
          </a:p>
          <a:p/>
          <a:p>
            <a:r>
              <a:t>第一份回答：我们应该怎么理解主流推理引擎的定位。第二份回答：KV Cache 为什么会成为部署大模型时最关键的动态资源。第三份回答：</a:t>
            </a:r>
            <a:r>
              <a:rPr lang="zh-CN" altLang="en-US"/>
              <a:t>当模型不只是生成自然语言，而是要调用工具、输出 </a:t>
            </a:r>
            <a:r>
              <a:rPr lang="en-US" altLang="zh-CN"/>
              <a:t>reasoning content </a:t>
            </a:r>
            <a:r>
              <a:rPr lang="zh-CN" altLang="en-US"/>
              <a:t>时，推理引擎需要怎样支持 </a:t>
            </a:r>
            <a:r>
              <a:rPr lang="en-US" altLang="zh-CN"/>
              <a:t>parser、tool schema </a:t>
            </a:r>
            <a:r>
              <a:rPr lang="zh-CN" altLang="en-US"/>
              <a:t>和 </a:t>
            </a:r>
            <a:r>
              <a:rPr lang="en-US" altLang="zh-CN"/>
              <a:t>grammar-constrained decoding</a:t>
            </a:r>
            <a:r>
              <a:t>。第四份回答：</a:t>
            </a:r>
            <a:r>
              <a:rPr lang="zh-CN" altLang="en-US"/>
              <a:t>前面这些技术判断不能只停留在理论理解上，还要变成可以复现、可以比较、可以回归的评测流程。这样我们才能知道：模型能力有没有变化，服务性能有没有变化，某个优化到底是不是有效。</a:t>
            </a:r>
            <a:endParaRPr lang="zh-CN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首先讲</a:t>
            </a:r>
            <a:r>
              <a:t>四类 serving engine 的设计哲学。</a:t>
            </a:r>
          </a:p>
          <a:p/>
          <a:p>
            <a:r>
              <a:t>vLLM 的核心是把 PagedAttention 和 OpenAI serving 做成通用高吞吐 API 服务，所以它适合大多数标准在线服务。SGLang 更像 LM program runtime，它强调 RadixAttention、共享前缀和多次调用编排，所以适合复杂 Agent、结构化生成和多轮工作流。</a:t>
            </a:r>
          </a:p>
          <a:p/>
          <a:p>
            <a:r>
              <a:rPr lang="en-US" altLang="zh-CN">
                <a:sym typeface="+mn-ea"/>
              </a:rPr>
              <a:t>TensorRT-LLM </a:t>
            </a:r>
            <a:r>
              <a:rPr lang="zh-CN" altLang="en-US">
                <a:sym typeface="+mn-ea"/>
              </a:rPr>
              <a:t>适合模型和硬件都比较确定、目标是把线上吞吐和延迟做到极致的生产部署；代价是部署链路更复杂，模型适配和调优成本更高，灵活性不如 </a:t>
            </a:r>
            <a:r>
              <a:rPr lang="en-US" altLang="zh-CN">
                <a:sym typeface="+mn-ea"/>
              </a:rPr>
              <a:t>vLLM / SGLang</a:t>
            </a:r>
            <a:r>
              <a:rPr lang="zh-CN">
                <a:ea typeface="宋体" charset="0"/>
              </a:rPr>
              <a:t>（部署流程更重，一旦模型、</a:t>
            </a:r>
            <a:r>
              <a:rPr lang="en-US" altLang="zh-CN">
                <a:ea typeface="宋体" charset="0"/>
              </a:rPr>
              <a:t>batchsize</a:t>
            </a:r>
            <a:r>
              <a:rPr lang="zh-CN" altLang="en-US">
                <a:ea typeface="宋体" charset="0"/>
              </a:rPr>
              <a:t>、精度、并行方式改变，可能需要重新构建或重新调优</a:t>
            </a:r>
            <a:r>
              <a:rPr lang="zh-CN">
                <a:ea typeface="宋体" charset="0"/>
              </a:rPr>
              <a:t>）</a:t>
            </a:r>
            <a:r>
              <a:t>。</a:t>
            </a:r>
          </a:p>
          <a:p>
            <a:endParaRPr lang="en-US" altLang="zh-CN"/>
          </a:p>
          <a:p>
            <a:r>
              <a:rPr lang="en-US" altLang="zh-CN"/>
              <a:t>mdeploy </a:t>
            </a:r>
            <a:r>
              <a:rPr lang="zh-CN" altLang="en-US"/>
              <a:t>则更偏工程适配和快速落地。尤其在国产/开源模型、多协议兼容、快速验证服务可用性这些场景下，它的优势不是理论上最极致，而是上手成本和适配效率。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第一组 </a:t>
            </a:r>
            <a:r>
              <a:rPr lang="en-US" altLang="zh-CN"/>
              <a:t>benchmark：</a:t>
            </a:r>
            <a:r>
              <a:rPr lang="zh-CN" altLang="en-US"/>
              <a:t>同一模型、同一测试矩阵下，</a:t>
            </a:r>
            <a:r>
              <a:rPr lang="en-US" altLang="zh-CN"/>
              <a:t>vLLM </a:t>
            </a:r>
            <a:r>
              <a:rPr lang="zh-CN" altLang="en-US"/>
              <a:t>和 </a:t>
            </a:r>
            <a:r>
              <a:rPr lang="en-US" altLang="zh-CN"/>
              <a:t>SGLang </a:t>
            </a:r>
            <a:r>
              <a:rPr lang="zh-CN" altLang="en-US"/>
              <a:t>的直接对比。</a:t>
            </a:r>
            <a:endParaRPr lang="zh-CN" altLang="en-US"/>
          </a:p>
          <a:p>
            <a:r>
              <a:rPr lang="zh-CN" altLang="en-US"/>
              <a:t>这里两边都跑的是 </a:t>
            </a:r>
            <a:r>
              <a:rPr lang="en-US" altLang="zh-CN"/>
              <a:t>Qwen3.5-4B，</a:t>
            </a:r>
            <a:r>
              <a:rPr lang="zh-CN" altLang="en-US"/>
              <a:t>接口都是 </a:t>
            </a:r>
            <a:r>
              <a:rPr lang="en-US" altLang="zh-CN"/>
              <a:t>OpenAI Chat API，thinking </a:t>
            </a:r>
            <a:r>
              <a:rPr lang="zh-CN" altLang="en-US"/>
              <a:t>关闭，</a:t>
            </a:r>
            <a:r>
              <a:rPr lang="en-US" altLang="zh-CN"/>
              <a:t>prompt scenario </a:t>
            </a:r>
            <a:r>
              <a:rPr lang="zh-CN" altLang="en-US"/>
              <a:t>是 </a:t>
            </a:r>
            <a:r>
              <a:rPr lang="en-US" altLang="zh-CN"/>
              <a:t>identical prompt。</a:t>
            </a:r>
            <a:r>
              <a:rPr lang="zh-CN" altLang="en-US"/>
              <a:t>也就是说，我们尽量把模型、请求格式、输入矩阵这些变量对齐，只比较两个 </a:t>
            </a:r>
            <a:r>
              <a:rPr lang="en-US" altLang="zh-CN"/>
              <a:t>serving engine </a:t>
            </a:r>
            <a:r>
              <a:rPr lang="zh-CN" altLang="en-US"/>
              <a:t>在这组 </a:t>
            </a:r>
            <a:r>
              <a:rPr lang="en-US" altLang="zh-CN"/>
              <a:t>workload </a:t>
            </a:r>
            <a:r>
              <a:rPr lang="zh-CN" altLang="en-US"/>
              <a:t>下的表现。</a:t>
            </a:r>
            <a:endParaRPr lang="zh-CN" altLang="en-US"/>
          </a:p>
          <a:p>
            <a:r>
              <a:rPr lang="zh-CN" altLang="en-US"/>
              <a:t>结果上，</a:t>
            </a:r>
            <a:r>
              <a:rPr lang="en-US" altLang="zh-CN"/>
              <a:t>SGLang </a:t>
            </a:r>
            <a:r>
              <a:rPr lang="zh-CN" altLang="en-US"/>
              <a:t>的平均请求吞吐是 4.30 </a:t>
            </a:r>
            <a:r>
              <a:rPr lang="en-US" altLang="zh-CN"/>
              <a:t>req/s，vLLM </a:t>
            </a:r>
            <a:r>
              <a:rPr lang="zh-CN" altLang="en-US"/>
              <a:t>是 3.17 </a:t>
            </a:r>
            <a:r>
              <a:rPr lang="en-US" altLang="zh-CN"/>
              <a:t>req/s；SGLang </a:t>
            </a:r>
            <a:r>
              <a:rPr lang="zh-CN" altLang="en-US"/>
              <a:t>的 </a:t>
            </a:r>
            <a:r>
              <a:rPr lang="en-US" altLang="zh-CN"/>
              <a:t>output tok/s </a:t>
            </a:r>
            <a:r>
              <a:rPr lang="zh-CN" altLang="en-US"/>
              <a:t>是 135.8，</a:t>
            </a:r>
            <a:r>
              <a:rPr lang="en-US" altLang="zh-CN"/>
              <a:t>vLLM </a:t>
            </a:r>
            <a:r>
              <a:rPr lang="zh-CN" altLang="en-US"/>
              <a:t>是 101.9；延迟指标上，</a:t>
            </a:r>
            <a:r>
              <a:rPr lang="en-US" altLang="zh-CN"/>
              <a:t>SGLang </a:t>
            </a:r>
            <a:r>
              <a:rPr lang="zh-CN" altLang="en-US"/>
              <a:t>的 </a:t>
            </a:r>
            <a:r>
              <a:rPr lang="en-US" altLang="zh-CN"/>
              <a:t>TTFT </a:t>
            </a:r>
            <a:r>
              <a:rPr lang="zh-CN" altLang="en-US"/>
              <a:t>是 266.3 </a:t>
            </a:r>
            <a:r>
              <a:rPr lang="en-US" altLang="zh-CN"/>
              <a:t>ms，vLLM </a:t>
            </a:r>
            <a:r>
              <a:rPr lang="zh-CN" altLang="en-US"/>
              <a:t>是 345.6 </a:t>
            </a:r>
            <a:r>
              <a:rPr lang="en-US" altLang="zh-CN"/>
              <a:t>ms，SGLang </a:t>
            </a:r>
            <a:r>
              <a:rPr lang="zh-CN" altLang="en-US"/>
              <a:t>的 </a:t>
            </a:r>
            <a:r>
              <a:rPr lang="en-US" altLang="zh-CN"/>
              <a:t>TPOT </a:t>
            </a:r>
            <a:r>
              <a:rPr lang="zh-CN" altLang="en-US"/>
              <a:t>是 27.61 </a:t>
            </a:r>
            <a:r>
              <a:rPr lang="en-US" altLang="zh-CN"/>
              <a:t>ms，vLLM </a:t>
            </a:r>
            <a:r>
              <a:rPr lang="zh-CN" altLang="en-US"/>
              <a:t>是 39.41 </a:t>
            </a:r>
            <a:r>
              <a:rPr lang="en-US" altLang="zh-CN"/>
              <a:t>ms。</a:t>
            </a:r>
            <a:r>
              <a:rPr lang="zh-CN" altLang="en-US"/>
              <a:t>两边失败请求都是 0，说明这个对比不是因为某一边跑崩了，而是在稳定完成请求的前提下比较性能。</a:t>
            </a:r>
            <a:endParaRPr lang="zh-CN" altLang="en-US"/>
          </a:p>
          <a:p>
            <a:r>
              <a:rPr lang="zh-CN" altLang="en-US"/>
              <a:t>所以这一页的结论很明确：在这组 </a:t>
            </a:r>
            <a:r>
              <a:rPr lang="en-US" altLang="zh-CN"/>
              <a:t>identical prompt、</a:t>
            </a:r>
            <a:r>
              <a:rPr lang="zh-CN" altLang="en-US"/>
              <a:t>共享前缀明显、输出较短的 </a:t>
            </a:r>
            <a:r>
              <a:rPr lang="en-US" altLang="zh-CN"/>
              <a:t>workload </a:t>
            </a:r>
            <a:r>
              <a:rPr lang="zh-CN" altLang="en-US"/>
              <a:t>里，</a:t>
            </a:r>
            <a:r>
              <a:rPr lang="en-US" altLang="zh-CN"/>
              <a:t>SGLang </a:t>
            </a:r>
            <a:r>
              <a:rPr lang="zh-CN" altLang="en-US"/>
              <a:t>相比 </a:t>
            </a:r>
            <a:r>
              <a:rPr lang="en-US" altLang="zh-CN"/>
              <a:t>vLLM </a:t>
            </a:r>
            <a:r>
              <a:rPr lang="zh-CN" altLang="en-US"/>
              <a:t>表现更好。背后的原因不是“模型不同”，而是 </a:t>
            </a:r>
            <a:r>
              <a:rPr lang="en-US" altLang="zh-CN"/>
              <a:t>SGLang </a:t>
            </a:r>
            <a:r>
              <a:rPr lang="zh-CN" altLang="en-US"/>
              <a:t>的 </a:t>
            </a:r>
            <a:r>
              <a:rPr lang="en-US" altLang="zh-CN"/>
              <a:t>RadixAttention </a:t>
            </a:r>
            <a:r>
              <a:rPr lang="zh-CN" altLang="en-US"/>
              <a:t>和 </a:t>
            </a:r>
            <a:r>
              <a:rPr lang="en-US" altLang="zh-CN"/>
              <a:t>runtime </a:t>
            </a:r>
            <a:r>
              <a:rPr lang="zh-CN" altLang="en-US"/>
              <a:t>设计更容易复用相同前缀，减少重复 </a:t>
            </a:r>
            <a:r>
              <a:rPr lang="en-US" altLang="zh-CN"/>
              <a:t>prefill，</a:t>
            </a:r>
            <a:r>
              <a:rPr lang="zh-CN" altLang="en-US"/>
              <a:t>从而把 </a:t>
            </a:r>
            <a:r>
              <a:rPr lang="en-US" altLang="zh-CN"/>
              <a:t>workload </a:t>
            </a:r>
            <a:r>
              <a:rPr lang="zh-CN" altLang="en-US"/>
              <a:t>特征转化成吞吐和延迟优势。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这轮测试不是只跑了一个点，而是一个 120 </a:t>
            </a:r>
            <a:r>
              <a:rPr lang="en-US" altLang="zh-CN"/>
              <a:t>case </a:t>
            </a:r>
            <a:r>
              <a:rPr lang="zh-CN" altLang="en-US"/>
              <a:t>的组合矩阵：2 个推理引擎，也就是 </a:t>
            </a:r>
            <a:r>
              <a:rPr lang="en-US" altLang="zh-CN"/>
              <a:t>vLLM </a:t>
            </a:r>
            <a:r>
              <a:rPr lang="zh-CN" altLang="en-US"/>
              <a:t>和 </a:t>
            </a:r>
            <a:r>
              <a:rPr lang="en-US" altLang="zh-CN"/>
              <a:t>SGLang；1 </a:t>
            </a:r>
            <a:r>
              <a:rPr lang="zh-CN" altLang="en-US"/>
              <a:t>种 </a:t>
            </a:r>
            <a:r>
              <a:rPr lang="en-US" altLang="zh-CN"/>
              <a:t>prompt scenario，</a:t>
            </a:r>
            <a:r>
              <a:rPr lang="zh-CN" altLang="en-US"/>
              <a:t>也就是 </a:t>
            </a:r>
            <a:r>
              <a:rPr lang="en-US" altLang="zh-CN"/>
              <a:t>identical prompt；5 </a:t>
            </a:r>
            <a:r>
              <a:rPr lang="zh-CN" altLang="en-US"/>
              <a:t>个 </a:t>
            </a:r>
            <a:r>
              <a:rPr lang="en-US" altLang="zh-CN"/>
              <a:t>batch size，</a:t>
            </a:r>
            <a:r>
              <a:rPr lang="zh-CN" altLang="en-US"/>
              <a:t>分别是 1、2、4、8、16；4 个 </a:t>
            </a:r>
            <a:r>
              <a:rPr lang="en-US" altLang="zh-CN"/>
              <a:t>prompt length，</a:t>
            </a:r>
            <a:r>
              <a:rPr lang="zh-CN" altLang="en-US"/>
              <a:t>覆盖 128、512、2048、8192；再乘上 3 个 </a:t>
            </a:r>
            <a:r>
              <a:rPr lang="en-US" altLang="zh-CN"/>
              <a:t>generation cap，</a:t>
            </a:r>
            <a:r>
              <a:rPr lang="zh-CN" altLang="en-US"/>
              <a:t>分别是 64、256、512。合起来就是 2 × 1 × 5 × 4 × 3 = 120 个 </a:t>
            </a:r>
            <a:r>
              <a:rPr lang="en-US" altLang="zh-CN"/>
              <a:t>benchmark cases。</a:t>
            </a:r>
            <a:endParaRPr lang="en-US" altLang="zh-CN"/>
          </a:p>
          <a:p>
            <a:r>
              <a:rPr lang="zh-CN" altLang="en-US"/>
              <a:t>所以这里的结论要先放回这个 </a:t>
            </a:r>
            <a:r>
              <a:rPr lang="en-US" altLang="zh-CN"/>
              <a:t>workload </a:t>
            </a:r>
            <a:r>
              <a:rPr lang="zh-CN" altLang="en-US"/>
              <a:t>里理解：它测试的是“相同 </a:t>
            </a:r>
            <a:r>
              <a:rPr lang="en-US" altLang="zh-CN"/>
              <a:t>prompt </a:t>
            </a:r>
            <a:r>
              <a:rPr lang="zh-CN" altLang="en-US"/>
              <a:t>模板 + 不同长度 + 不同并发 + 不同输出上限”下的 </a:t>
            </a:r>
            <a:r>
              <a:rPr lang="en-US" altLang="zh-CN"/>
              <a:t>serving </a:t>
            </a:r>
            <a:r>
              <a:rPr lang="zh-CN" altLang="en-US"/>
              <a:t>表现，而不是所有请求分布下的绝对排名。</a:t>
            </a:r>
            <a:endParaRPr lang="zh-CN" altLang="en-US"/>
          </a:p>
          <a:p>
            <a:r>
              <a:rPr lang="zh-CN" altLang="en-US"/>
              <a:t>在这个矩阵里，所有请求共享相同 </a:t>
            </a:r>
            <a:r>
              <a:rPr lang="en-US" altLang="zh-CN"/>
              <a:t>prompt </a:t>
            </a:r>
            <a:r>
              <a:rPr lang="zh-CN" altLang="en-US"/>
              <a:t>模板，上下文结构相似，输出也相对可控，因此 </a:t>
            </a:r>
            <a:r>
              <a:rPr lang="en-US" altLang="zh-CN"/>
              <a:t>SGLang </a:t>
            </a:r>
            <a:r>
              <a:rPr lang="zh-CN" altLang="en-US"/>
              <a:t>的 </a:t>
            </a:r>
            <a:r>
              <a:rPr lang="en-US" altLang="zh-CN"/>
              <a:t>RadixAttention </a:t>
            </a:r>
            <a:r>
              <a:rPr lang="zh-CN" altLang="en-US"/>
              <a:t>更容易复用相同前缀，减少重复 </a:t>
            </a:r>
            <a:r>
              <a:rPr lang="en-US" altLang="zh-CN"/>
              <a:t>prefill，</a:t>
            </a:r>
            <a:r>
              <a:rPr lang="zh-CN" altLang="en-US"/>
              <a:t>这就是为什么它在这轮 </a:t>
            </a:r>
            <a:r>
              <a:rPr lang="en-US" altLang="zh-CN"/>
              <a:t>identical prompt workload </a:t>
            </a:r>
            <a:r>
              <a:rPr lang="zh-CN" altLang="en-US"/>
              <a:t>下表现更好。</a:t>
            </a:r>
            <a:endParaRPr lang="zh-CN" altLang="en-US"/>
          </a:p>
          <a:p>
            <a:r>
              <a:rPr lang="zh-CN" altLang="en-US"/>
              <a:t>但这个结论不能直接外推到所有场景。如果换成随机输入、长输出、</a:t>
            </a:r>
            <a:r>
              <a:rPr lang="en-US" altLang="zh-CN"/>
              <a:t>decode </a:t>
            </a:r>
            <a:r>
              <a:rPr lang="zh-CN" altLang="en-US"/>
              <a:t>压力更重的通用 </a:t>
            </a:r>
            <a:r>
              <a:rPr lang="en-US" altLang="zh-CN"/>
              <a:t>serving workload，</a:t>
            </a:r>
            <a:r>
              <a:rPr lang="zh-CN" altLang="en-US"/>
              <a:t>结果就可能反过来。也就是说，不能只问哪个引擎更快，而要问：在什么请求分布、什么 </a:t>
            </a:r>
            <a:r>
              <a:rPr lang="en-US" altLang="zh-CN"/>
              <a:t>prompt </a:t>
            </a:r>
            <a:r>
              <a:rPr lang="zh-CN" altLang="en-US"/>
              <a:t>结构、什么输入输出长度下更快。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GuideLLM synthetic 的结果里，vLLM 的通用 serving 路径更占优。</a:t>
            </a:r>
          </a:p>
          <a:p/>
          <a:p>
            <a:r>
              <a:t>这次两边都对齐了 CUDA graph 和 prefix cache，也去掉 reasoning parser 干扰。随机 synthetic prompt 下，vLLM 平均 req/s 是 2.52，SGLang 是 2.14；vLLM 的 TTFT p50 和 TPOT p50 也都更低。</a:t>
            </a:r>
          </a:p>
          <a:p/>
          <a:p>
            <a:r>
              <a:t>我的解读是：vLLM 在随机、decode-heavy、通用 API 服务上更稳；SGLang 则在共享结构、程序化调用、多轮编排中更容易放大优势。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这里补充的是新 benchmark 对旧结论的边界说明。</a:t>
            </a:r>
          </a:p>
          <a:p/>
          <a:p>
            <a:r>
              <a:t>第一次测试里，prompt 内容高度 identical，实际输出平均只有 32 token 左右，所以它偏向共享 prefix 和短输出。这个环境下 SGLang 比 vLLM 快，是符合机制预期的。</a:t>
            </a:r>
          </a:p>
          <a:p/>
          <a:p>
            <a:r>
              <a:t>后面我们用 GuideLLM synthetic 压测重新做了一组更偏随机、更偏 decode-heavy 的实验。它没有推翻旧结论，而是告诉我们：旧结论的适用范围是共享前缀明显的 workload。</a:t>
            </a:r>
          </a:p>
          <a:p/>
          <a:p>
            <a:r>
              <a:rPr lang="zh-CN" altLang="en-US">
                <a:sym typeface="+mn-ea"/>
              </a:rPr>
              <a:t>从两组</a:t>
            </a:r>
            <a:r>
              <a:rPr lang="en-US" altLang="zh-CN">
                <a:sym typeface="+mn-ea"/>
              </a:rPr>
              <a:t>benchmark</a:t>
            </a:r>
            <a:r>
              <a:rPr lang="zh-CN" altLang="en-US">
                <a:sym typeface="+mn-ea"/>
              </a:rPr>
              <a:t>结果的差异可以看出：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ea typeface="宋体" charset="0"/>
                <a:sym typeface="+mn-ea"/>
              </a:rPr>
              <a:t>、</a:t>
            </a:r>
            <a:r>
              <a:rPr lang="en-US" altLang="zh-CN">
                <a:sym typeface="+mn-ea"/>
              </a:rPr>
              <a:t>vLLM </a:t>
            </a:r>
            <a:r>
              <a:rPr lang="zh-CN" altLang="en-US">
                <a:sym typeface="+mn-ea"/>
              </a:rPr>
              <a:t>更像通用高吞吐 </a:t>
            </a:r>
            <a:r>
              <a:rPr lang="en-US" altLang="zh-CN">
                <a:sym typeface="+mn-ea"/>
              </a:rPr>
              <a:t>serving </a:t>
            </a:r>
            <a:r>
              <a:rPr lang="zh-CN" altLang="en-US">
                <a:sym typeface="+mn-ea"/>
              </a:rPr>
              <a:t>内核，优先解决随机请求下的调度和 </a:t>
            </a:r>
            <a:r>
              <a:rPr lang="en-US" altLang="zh-CN">
                <a:sym typeface="+mn-ea"/>
              </a:rPr>
              <a:t>KV </a:t>
            </a:r>
            <a:r>
              <a:rPr lang="zh-CN" altLang="en-US">
                <a:sym typeface="+mn-ea"/>
              </a:rPr>
              <a:t>内存虚拟化；</a:t>
            </a:r>
            <a:r>
              <a:rPr lang="en-US" altLang="zh-CN">
                <a:sym typeface="+mn-ea"/>
              </a:rPr>
              <a:t>SGLang </a:t>
            </a:r>
            <a:r>
              <a:rPr lang="zh-CN" altLang="en-US">
                <a:sym typeface="+mn-ea"/>
              </a:rPr>
              <a:t>更像面向结构化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应用的运行时，优先把重复 </a:t>
            </a:r>
            <a:r>
              <a:rPr lang="en-US" altLang="zh-CN">
                <a:sym typeface="+mn-ea"/>
              </a:rPr>
              <a:t>prompt、</a:t>
            </a:r>
            <a:r>
              <a:rPr lang="zh-CN" altLang="en-US">
                <a:sym typeface="+mn-ea"/>
              </a:rPr>
              <a:t>共享 </a:t>
            </a:r>
            <a:r>
              <a:rPr lang="en-US" altLang="zh-CN">
                <a:sym typeface="+mn-ea"/>
              </a:rPr>
              <a:t>prefix </a:t>
            </a:r>
            <a:r>
              <a:rPr lang="zh-CN" altLang="en-US">
                <a:sym typeface="+mn-ea"/>
              </a:rPr>
              <a:t>和多调用程序转化为可复用的 </a:t>
            </a:r>
            <a:r>
              <a:rPr lang="en-US" altLang="zh-CN">
                <a:sym typeface="+mn-ea"/>
              </a:rPr>
              <a:t>KV </a:t>
            </a:r>
            <a:r>
              <a:rPr lang="zh-CN" altLang="en-US">
                <a:sym typeface="+mn-ea"/>
              </a:rPr>
              <a:t>计算。</a:t>
            </a:r>
            <a:endParaRPr lang="zh-CN" altLang="en-US"/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ea typeface="宋体" charset="0"/>
                <a:sym typeface="+mn-ea"/>
              </a:rPr>
              <a:t>、也就是说明</a:t>
            </a:r>
            <a:r>
              <a:rPr lang="en-US" altLang="zh-CN">
                <a:sym typeface="+mn-ea"/>
              </a:rPr>
              <a:t>workload </a:t>
            </a:r>
            <a:r>
              <a:rPr lang="zh-CN" altLang="en-US">
                <a:sym typeface="+mn-ea"/>
              </a:rPr>
              <a:t>越有结构，</a:t>
            </a:r>
            <a:r>
              <a:rPr lang="en-US" altLang="zh-CN">
                <a:sym typeface="+mn-ea"/>
              </a:rPr>
              <a:t>SGLang </a:t>
            </a:r>
            <a:r>
              <a:rPr lang="zh-CN" altLang="en-US">
                <a:sym typeface="+mn-ea"/>
              </a:rPr>
              <a:t>的设计收益越明显；</a:t>
            </a:r>
            <a:r>
              <a:rPr lang="en-US" altLang="zh-CN">
                <a:sym typeface="+mn-ea"/>
              </a:rPr>
              <a:t>workload </a:t>
            </a:r>
            <a:r>
              <a:rPr lang="zh-CN" altLang="en-US">
                <a:sym typeface="+mn-ea"/>
              </a:rPr>
              <a:t>越随机、越 </a:t>
            </a:r>
            <a:r>
              <a:rPr lang="en-US" altLang="zh-CN">
                <a:sym typeface="+mn-ea"/>
              </a:rPr>
              <a:t>decode-heavy，vLLM </a:t>
            </a:r>
            <a:r>
              <a:rPr lang="zh-CN" altLang="en-US">
                <a:sym typeface="+mn-ea"/>
              </a:rPr>
              <a:t>的通用 </a:t>
            </a:r>
            <a:r>
              <a:rPr lang="en-US" altLang="zh-CN">
                <a:sym typeface="+mn-ea"/>
              </a:rPr>
              <a:t>serving </a:t>
            </a:r>
            <a:r>
              <a:rPr lang="zh-CN" altLang="en-US">
                <a:sym typeface="+mn-ea"/>
              </a:rPr>
              <a:t>路径越容易占优。</a:t>
            </a:r>
            <a:endParaRPr lang="zh-CN" altLang="en-US"/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接下来进入 KV Cache。</a:t>
            </a:r>
          </a:p>
          <a:p>
            <a:r>
              <a:t>KV Cache 是在线推理里最关键的动态资源，</a:t>
            </a:r>
            <a:r>
              <a:rPr lang="zh-CN">
                <a:ea typeface="宋体" charset="0"/>
              </a:rPr>
              <a:t>（</a:t>
            </a:r>
            <a:r>
              <a:t>因为它随着</a:t>
            </a:r>
            <a:r>
              <a:rPr lang="zh-CN"/>
              <a:t>模型层数、每层维度、</a:t>
            </a:r>
            <a:r>
              <a:t>输入长度、输出长度、并发数一起增长。很多启动失败、显存爆掉、吞吐下降的问题，本质上不是模型权重太大，而是运行时没有足够预算容纳 KV 状态。</a:t>
            </a:r>
            <a:r>
              <a:rPr lang="zh-CN">
                <a:ea typeface="宋体" charset="0"/>
              </a:rPr>
              <a:t>）</a:t>
            </a:r>
            <a:endParaRPr lang="zh-CN">
              <a:ea typeface="宋体" charset="0"/>
            </a:endParaRPr>
          </a:p>
          <a:p>
            <a:r>
              <a:rPr lang="zh-CN">
                <a:ea typeface="宋体" charset="0"/>
              </a:rPr>
              <a:t>它有四个特点：</a:t>
            </a:r>
          </a:p>
          <a:p>
            <a:r>
              <a:rPr lang="en-US" altLang="zh-CN"/>
              <a:t>1</a:t>
            </a:r>
            <a:r>
              <a:rPr lang="zh-CN" altLang="en-US">
                <a:ea typeface="宋体" charset="0"/>
              </a:rPr>
              <a:t>、</a:t>
            </a:r>
            <a:r>
              <a:rPr lang="zh-CN" altLang="en-US"/>
              <a:t>输入越长，</a:t>
            </a:r>
            <a:r>
              <a:rPr lang="en-US" altLang="zh-CN"/>
              <a:t>prefill </a:t>
            </a:r>
            <a:r>
              <a:rPr lang="zh-CN" altLang="en-US"/>
              <a:t>阶段要一次性写入的 </a:t>
            </a:r>
            <a:r>
              <a:rPr lang="en-US" altLang="zh-CN"/>
              <a:t>KV </a:t>
            </a:r>
            <a:r>
              <a:rPr lang="zh-CN" altLang="en-US"/>
              <a:t>越多；输出越长，</a:t>
            </a:r>
            <a:r>
              <a:rPr lang="en-US" altLang="zh-CN"/>
              <a:t>decode </a:t>
            </a:r>
            <a:r>
              <a:rPr lang="zh-CN" altLang="en-US"/>
              <a:t>每生成一个 </a:t>
            </a:r>
            <a:r>
              <a:rPr lang="en-US" altLang="zh-CN"/>
              <a:t>token，</a:t>
            </a:r>
            <a:r>
              <a:rPr lang="zh-CN" altLang="en-US"/>
              <a:t>还要继续往历史 </a:t>
            </a:r>
            <a:r>
              <a:rPr lang="en-US" altLang="zh-CN"/>
              <a:t>KV </a:t>
            </a:r>
            <a:r>
              <a:rPr lang="zh-CN" altLang="en-US"/>
              <a:t>里追加状态。所以 </a:t>
            </a:r>
            <a:r>
              <a:rPr lang="en-US" altLang="zh-CN"/>
              <a:t>KV Cache </a:t>
            </a:r>
            <a:r>
              <a:rPr lang="zh-CN" altLang="en-US"/>
              <a:t>不是启动时分配完就结束，而是随着请求生命周期持续增长。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>
                <a:ea typeface="宋体" charset="0"/>
              </a:rPr>
              <a:t>、</a:t>
            </a:r>
            <a:r>
              <a:rPr lang="zh-CN" altLang="en-US"/>
              <a:t>一个请求只要还在 </a:t>
            </a:r>
            <a:r>
              <a:rPr lang="en-US" altLang="zh-CN"/>
              <a:t>decode，</a:t>
            </a:r>
            <a:r>
              <a:rPr lang="zh-CN" altLang="en-US"/>
              <a:t>它过去所有 </a:t>
            </a:r>
            <a:r>
              <a:rPr lang="en-US" altLang="zh-CN"/>
              <a:t>token </a:t>
            </a:r>
            <a:r>
              <a:rPr lang="zh-CN" altLang="en-US"/>
              <a:t>的 </a:t>
            </a:r>
            <a:r>
              <a:rPr lang="en-US" altLang="zh-CN"/>
              <a:t>K/V </a:t>
            </a:r>
            <a:r>
              <a:rPr lang="zh-CN" altLang="en-US"/>
              <a:t>都要保留，因为后续每一步生成都要回看历史上下文。这也是为什么长上下文和高并发会迅速放大显存压力。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>
                <a:ea typeface="宋体" charset="0"/>
              </a:rPr>
              <a:t>、</a:t>
            </a:r>
            <a:r>
              <a:rPr lang="zh-CN" altLang="en-US"/>
              <a:t>可以共享。多轮对话、</a:t>
            </a:r>
            <a:r>
              <a:rPr lang="en-US" altLang="zh-CN"/>
              <a:t>RAG、</a:t>
            </a:r>
            <a:r>
              <a:rPr lang="zh-CN" altLang="en-US"/>
              <a:t>工具调用这些场景里，很多请求会共享系统提示词、文档前缀或工具说明。</a:t>
            </a:r>
            <a:r>
              <a:rPr lang="en-US" altLang="zh-CN"/>
              <a:t>prefix caching、RadixAttention </a:t>
            </a:r>
            <a:r>
              <a:rPr lang="zh-CN" altLang="en-US"/>
              <a:t>这类技术，就是在利用这种共享，避免重复 </a:t>
            </a:r>
            <a:r>
              <a:rPr lang="en-US" altLang="zh-CN"/>
              <a:t>prefill。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>
                <a:ea typeface="宋体" charset="0"/>
              </a:rPr>
              <a:t>、</a:t>
            </a:r>
            <a:r>
              <a:rPr lang="zh-CN" altLang="en-US"/>
              <a:t>阶段差异明显。</a:t>
            </a:r>
            <a:r>
              <a:rPr lang="en-US" altLang="zh-CN"/>
              <a:t>prefill </a:t>
            </a:r>
            <a:r>
              <a:rPr lang="zh-CN" altLang="en-US"/>
              <a:t>更偏计算密集，因为要处理整段输入；</a:t>
            </a:r>
            <a:r>
              <a:rPr lang="en-US" altLang="zh-CN"/>
              <a:t>decode </a:t>
            </a:r>
            <a:r>
              <a:rPr lang="zh-CN" altLang="en-US"/>
              <a:t>更偏显存带宽和调度压力，因为每一步都要读历史 </a:t>
            </a:r>
            <a:r>
              <a:rPr lang="en-US" altLang="zh-CN"/>
              <a:t>KV、</a:t>
            </a:r>
            <a:r>
              <a:rPr lang="zh-CN" altLang="en-US"/>
              <a:t>追加新 </a:t>
            </a:r>
            <a:r>
              <a:rPr lang="en-US" altLang="zh-CN"/>
              <a:t>KV。</a:t>
            </a:r>
            <a:r>
              <a:rPr lang="zh-CN" altLang="en-US"/>
              <a:t>理解这个差异，才能解释为什么会有 </a:t>
            </a:r>
            <a:r>
              <a:rPr lang="en-US" altLang="zh-CN"/>
              <a:t>chunked prefill、prefill/decode disaggregation </a:t>
            </a:r>
            <a:r>
              <a:rPr lang="zh-CN" altLang="en-US"/>
              <a:t>这些优化。</a:t>
            </a:r>
            <a:endParaRPr lang="zh-CN" altLang="en-US"/>
          </a:p>
          <a:p>
            <a:endParaRPr lang="zh-CN" altLang="en-US"/>
          </a:p>
          <a:p>
            <a:r>
              <a:t>所以推理引擎很大一部分价值，是把这部分动态内存管理得更细、更可控。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KV Cache </a:t>
            </a:r>
            <a:r>
              <a:rPr lang="zh-CN" altLang="en-US"/>
              <a:t>优化已经不只是“省一点显存”，而是在管理一个请求从 </a:t>
            </a:r>
            <a:r>
              <a:rPr lang="en-US" altLang="zh-CN"/>
              <a:t>prefill </a:t>
            </a:r>
            <a:r>
              <a:rPr lang="zh-CN" altLang="en-US"/>
              <a:t>到 </a:t>
            </a:r>
            <a:r>
              <a:rPr lang="en-US" altLang="zh-CN"/>
              <a:t>decode </a:t>
            </a:r>
            <a:r>
              <a:rPr lang="zh-CN" altLang="en-US"/>
              <a:t>的完整生命周期。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PagedAttention </a:t>
            </a:r>
            <a:r>
              <a:rPr lang="zh-CN" altLang="en-US"/>
              <a:t>把 </a:t>
            </a:r>
            <a:r>
              <a:rPr lang="en-US" altLang="zh-CN"/>
              <a:t>KV </a:t>
            </a:r>
            <a:r>
              <a:rPr lang="zh-CN" altLang="en-US"/>
              <a:t>拆成 </a:t>
            </a:r>
            <a:r>
              <a:rPr lang="en-US" altLang="zh-CN"/>
              <a:t>block，</a:t>
            </a:r>
            <a:r>
              <a:rPr lang="zh-CN" altLang="en-US"/>
              <a:t>用 </a:t>
            </a:r>
            <a:r>
              <a:rPr lang="en-US" altLang="zh-CN"/>
              <a:t>block table </a:t>
            </a:r>
            <a:r>
              <a:rPr lang="zh-CN" altLang="en-US"/>
              <a:t>管理非连续内存，核心是减少碎片、扩大 </a:t>
            </a:r>
            <a:r>
              <a:rPr lang="en-US" altLang="zh-CN"/>
              <a:t>effective batch。RadixAttention </a:t>
            </a:r>
            <a:r>
              <a:rPr lang="zh-CN" altLang="en-US"/>
              <a:t>用 </a:t>
            </a:r>
            <a:r>
              <a:rPr lang="en-US" altLang="zh-CN"/>
              <a:t>prefix tree </a:t>
            </a:r>
            <a:r>
              <a:rPr lang="zh-CN" altLang="en-US"/>
              <a:t>发现请求之间的共享前缀，减少重复 </a:t>
            </a:r>
            <a:r>
              <a:rPr lang="en-US" altLang="zh-CN"/>
              <a:t>prefill。Splitwise </a:t>
            </a:r>
            <a:r>
              <a:rPr lang="zh-CN" altLang="en-US"/>
              <a:t>进一步把请求按阶段拆开看：</a:t>
            </a:r>
            <a:r>
              <a:rPr lang="en-US" altLang="zh-CN"/>
              <a:t>prefill </a:t>
            </a:r>
            <a:r>
              <a:rPr lang="zh-CN" altLang="en-US"/>
              <a:t>更吃算力、</a:t>
            </a:r>
            <a:r>
              <a:rPr lang="en-US" altLang="zh-CN"/>
              <a:t>decode </a:t>
            </a:r>
            <a:r>
              <a:rPr lang="zh-CN" altLang="en-US"/>
              <a:t>更吃显存带宽，所以可以用 </a:t>
            </a:r>
            <a:r>
              <a:rPr lang="en-US" altLang="zh-CN"/>
              <a:t>prompt pool / token pool </a:t>
            </a:r>
            <a:r>
              <a:rPr lang="zh-CN" altLang="en-US"/>
              <a:t>按阶段匹配不同硬件资源。</a:t>
            </a:r>
            <a:r>
              <a:rPr lang="en-US" altLang="zh-CN"/>
              <a:t>DistServe </a:t>
            </a:r>
            <a:r>
              <a:rPr lang="zh-CN" altLang="en-US"/>
              <a:t>则把 </a:t>
            </a:r>
            <a:r>
              <a:rPr lang="en-US" altLang="zh-CN"/>
              <a:t>prefill </a:t>
            </a:r>
            <a:r>
              <a:rPr lang="zh-CN" altLang="en-US"/>
              <a:t>和 </a:t>
            </a:r>
            <a:r>
              <a:rPr lang="en-US" altLang="zh-CN"/>
              <a:t>decode </a:t>
            </a:r>
            <a:r>
              <a:rPr lang="zh-CN" altLang="en-US"/>
              <a:t>做 </a:t>
            </a:r>
            <a:r>
              <a:rPr lang="en-US" altLang="zh-CN"/>
              <a:t>disaggregation，</a:t>
            </a:r>
            <a:r>
              <a:rPr lang="zh-CN" altLang="en-US"/>
              <a:t>用不同实例分别优化 </a:t>
            </a:r>
            <a:r>
              <a:rPr lang="en-US" altLang="zh-CN"/>
              <a:t>TTFT </a:t>
            </a:r>
            <a:r>
              <a:rPr lang="zh-CN" altLang="en-US"/>
              <a:t>和 </a:t>
            </a:r>
            <a:r>
              <a:rPr lang="en-US" altLang="zh-CN"/>
              <a:t>TPOT，</a:t>
            </a:r>
            <a:r>
              <a:rPr lang="zh-CN" altLang="en-US"/>
              <a:t>从而提升满足 </a:t>
            </a:r>
            <a:r>
              <a:rPr lang="en-US" altLang="zh-CN"/>
              <a:t>SLO </a:t>
            </a:r>
            <a:r>
              <a:rPr lang="zh-CN" altLang="en-US"/>
              <a:t>的 </a:t>
            </a:r>
            <a:r>
              <a:rPr lang="en-US" altLang="zh-CN"/>
              <a:t>goodput。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所以这一页真正想表达的是：</a:t>
            </a:r>
            <a:r>
              <a:rPr lang="en-US" altLang="zh-CN"/>
              <a:t>KV Cache </a:t>
            </a:r>
            <a:r>
              <a:rPr lang="zh-CN" altLang="en-US"/>
              <a:t>技术栈已经从单机上的 </a:t>
            </a:r>
            <a:r>
              <a:rPr lang="en-US" altLang="zh-CN"/>
              <a:t>block </a:t>
            </a:r>
            <a:r>
              <a:rPr lang="zh-CN" altLang="en-US"/>
              <a:t>管理，走向跨阶段、跨资源、跨节点的系统编排。难点不再是某一个机制本身，而是如何把 </a:t>
            </a:r>
            <a:r>
              <a:rPr lang="en-US" altLang="zh-CN"/>
              <a:t>PagedAttention、RadixAttention、Splitwise、DistServe </a:t>
            </a:r>
            <a:r>
              <a:rPr lang="zh-CN" altLang="en-US"/>
              <a:t>这些机制组合进同一个 </a:t>
            </a:r>
            <a:r>
              <a:rPr lang="en-US" altLang="zh-CN"/>
              <a:t>KV </a:t>
            </a:r>
            <a:r>
              <a:rPr lang="zh-CN" altLang="en-US"/>
              <a:t>生命周期里。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这一页来自部署实践。</a:t>
            </a:r>
          </a:p>
          <a:p/>
          <a:p>
            <a:r>
              <a:t>大模型启动失败时，直觉上会先怀疑权重、驱动或环境。但在 14B、32B 这类模型上，KV Cache 预算经常才是真正瓶颈。最大上下文长度、GPU 显存利用率、并发上限、tensor parallel 都会影响能不能跑起来。</a:t>
            </a:r>
          </a:p>
          <a:p/>
          <a:p>
            <a:r>
              <a:t>因此部署时不能只看模型参数量，还要估算运行时状态。这里也是我把 KV Cache 单独作为一份报告的原因。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这一页是在讲 </a:t>
            </a:r>
            <a:r>
              <a:rPr lang="en-US" altLang="zh-CN"/>
              <a:t>vLLM </a:t>
            </a:r>
            <a:r>
              <a:rPr lang="zh-CN" altLang="en-US"/>
              <a:t>上 </a:t>
            </a:r>
            <a:r>
              <a:rPr lang="en-US" altLang="zh-CN"/>
              <a:t>prefix caching </a:t>
            </a:r>
            <a:r>
              <a:rPr lang="zh-CN" altLang="en-US"/>
              <a:t>开关前后的 </a:t>
            </a:r>
            <a:r>
              <a:rPr lang="en-US" altLang="zh-CN"/>
              <a:t>paired benchmark</a:t>
            </a:r>
            <a:r>
              <a:rPr lang="zh-CN" altLang="en-US">
                <a:ea typeface="宋体" charset="0"/>
              </a:rPr>
              <a:t>。</a:t>
            </a:r>
            <a:endParaRPr lang="en-US" altLang="zh-CN">
              <a:ea typeface="宋体" charset="0"/>
            </a:endParaRPr>
          </a:p>
          <a:p>
            <a:endParaRPr lang="en-US" altLang="zh-CN">
              <a:ea typeface="宋体" charset="0"/>
            </a:endParaRPr>
          </a:p>
          <a:p>
            <a:r>
              <a:rPr lang="zh-CN" altLang="en-US"/>
              <a:t>测试方式是：同一组请求跑两遍，一遍关闭 </a:t>
            </a:r>
            <a:r>
              <a:rPr lang="en-US" altLang="zh-CN"/>
              <a:t>prefix caching，</a:t>
            </a:r>
            <a:r>
              <a:rPr lang="zh-CN" altLang="en-US"/>
              <a:t>一遍开启 </a:t>
            </a:r>
            <a:r>
              <a:rPr lang="en-US" altLang="zh-CN"/>
              <a:t>prefix caching；</a:t>
            </a:r>
            <a:r>
              <a:rPr lang="zh-CN" altLang="en-US"/>
              <a:t>模型、输入总长度、并发等条件尽量保持一致，然后比较开启前后的 </a:t>
            </a:r>
            <a:r>
              <a:rPr lang="en-US" altLang="zh-CN"/>
              <a:t>TTFT </a:t>
            </a:r>
            <a:r>
              <a:rPr lang="zh-CN" altLang="en-US"/>
              <a:t>和吞吐变化。这里固定总输入长度是 8192 </a:t>
            </a:r>
            <a:r>
              <a:rPr lang="en-US" altLang="zh-CN"/>
              <a:t>tokens，</a:t>
            </a:r>
            <a:r>
              <a:rPr lang="zh-CN" altLang="en-US"/>
              <a:t>一共 30 组 </a:t>
            </a:r>
            <a:r>
              <a:rPr lang="en-US" altLang="zh-CN"/>
              <a:t>paired case，</a:t>
            </a:r>
            <a:r>
              <a:rPr lang="zh-CN" altLang="en-US"/>
              <a:t>变量主要是共享前缀长度和并发数。</a:t>
            </a:r>
            <a:endParaRPr lang="en-US" altLang="zh-CN">
              <a:ea typeface="宋体" charset="0"/>
            </a:endParaRPr>
          </a:p>
          <a:p>
            <a:endParaRPr lang="zh-CN" altLang="en-US"/>
          </a:p>
          <a:p>
            <a:r>
              <a:t>prefix caching 的结果说明：它不是一开就稳赚。</a:t>
            </a:r>
          </a:p>
          <a:p/>
          <a:p>
            <a:r>
              <a:t>在固定总输入 8192 的 paired case 里，平均 p50 TTFT 改善 14.8%，吞吐平均提升 24.6%。但收益有阈值：共享前缀只有 1024 时，TTFT 和吞吐反而略差；到 4096 以后，收益才比较稳定。</a:t>
            </a:r>
          </a:p>
          <a:p/>
          <a:p>
            <a:r>
              <a:rPr lang="zh-CN" altLang="en-US"/>
              <a:t>所以对 </a:t>
            </a:r>
            <a:r>
              <a:rPr lang="en-US" altLang="zh-CN"/>
              <a:t>vLLM </a:t>
            </a:r>
            <a:r>
              <a:rPr lang="zh-CN" altLang="en-US"/>
              <a:t>来说，</a:t>
            </a:r>
            <a:r>
              <a:rPr lang="en-US" altLang="zh-CN"/>
              <a:t>prefix caching </a:t>
            </a:r>
            <a:r>
              <a:rPr lang="zh-CN" altLang="en-US"/>
              <a:t>真正适合的是长系统提示词、</a:t>
            </a:r>
            <a:r>
              <a:rPr lang="en-US" altLang="zh-CN"/>
              <a:t>RAG </a:t>
            </a:r>
            <a:r>
              <a:rPr lang="zh-CN" altLang="en-US"/>
              <a:t>长文档前缀、多轮对话历史、工具说明这类“长共享前缀且命中率高”的场景。如果请求前缀短、内容随机、命中率低，</a:t>
            </a:r>
            <a:r>
              <a:rPr lang="en-US" altLang="zh-CN"/>
              <a:t>prefix caching </a:t>
            </a:r>
            <a:r>
              <a:rPr lang="zh-CN" altLang="en-US"/>
              <a:t>可能反而带来额外开销。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这一页是在讲 </a:t>
            </a:r>
            <a:r>
              <a:rPr lang="en-US" altLang="zh-CN"/>
              <a:t>vLLM </a:t>
            </a:r>
            <a:r>
              <a:rPr lang="zh-CN" altLang="en-US"/>
              <a:t>上 </a:t>
            </a:r>
            <a:r>
              <a:rPr lang="en-US" altLang="zh-CN"/>
              <a:t>chunked prefill </a:t>
            </a:r>
            <a:r>
              <a:rPr lang="zh-CN" altLang="en-US"/>
              <a:t>开关前后的 </a:t>
            </a:r>
            <a:r>
              <a:rPr lang="en-US" altLang="zh-CN"/>
              <a:t>paired benchmark</a:t>
            </a:r>
            <a:endParaRPr lang="en-US" altLang="zh-CN"/>
          </a:p>
          <a:p/>
          <a:p>
            <a:r>
              <a:rPr lang="zh-CN" altLang="en-US"/>
              <a:t>同一组长 </a:t>
            </a:r>
            <a:r>
              <a:rPr lang="en-US" altLang="zh-CN"/>
              <a:t>prompt </a:t>
            </a:r>
            <a:r>
              <a:rPr lang="zh-CN" altLang="en-US"/>
              <a:t>请求跑两遍，一遍关闭 </a:t>
            </a:r>
            <a:r>
              <a:rPr lang="en-US" altLang="zh-CN"/>
              <a:t>chunked prefill，</a:t>
            </a:r>
            <a:r>
              <a:rPr lang="zh-CN" altLang="en-US"/>
              <a:t>一遍开启 </a:t>
            </a:r>
            <a:r>
              <a:rPr lang="en-US" altLang="zh-CN"/>
              <a:t>chunked prefill，</a:t>
            </a:r>
            <a:r>
              <a:rPr lang="zh-CN" altLang="en-US"/>
              <a:t>然后比较 </a:t>
            </a:r>
            <a:r>
              <a:rPr lang="en-US" altLang="zh-CN"/>
              <a:t>TTFT </a:t>
            </a:r>
            <a:r>
              <a:rPr lang="zh-CN" altLang="en-US"/>
              <a:t>和吞吐变化。这里主要覆盖 8192、16384、24576 三档 </a:t>
            </a:r>
            <a:r>
              <a:rPr lang="en-US" altLang="zh-CN"/>
              <a:t>prompt length，</a:t>
            </a:r>
            <a:r>
              <a:rPr lang="zh-CN" altLang="en-US"/>
              <a:t>以及 1、2、4、8 不同并发，一共 12 组 </a:t>
            </a:r>
            <a:r>
              <a:rPr lang="en-US" altLang="zh-CN"/>
              <a:t>paired case。</a:t>
            </a:r>
            <a:endParaRPr lang="en-US" altLang="zh-CN"/>
          </a:p>
          <a:p>
            <a:endParaRPr lang="en-US" altLang="zh-CN"/>
          </a:p>
          <a:p>
            <a:r>
              <a:t>这组实验里，平均 p50 TTFT 只改善 2.8%，吞吐反而下降 8.5%。但按并发拆开看，高并发时 TTFT 改善明显，concurrency 8 下改善接近 30%；低并发时反而会变差。</a:t>
            </a:r>
          </a:p>
          <a:p/>
          <a:p>
            <a:r>
              <a:rPr lang="zh-CN"/>
              <a:t>所以</a:t>
            </a:r>
            <a:r>
              <a:t>它适合长 prompt、高并发、不能让一个超长 prefill 阻塞队列的服务场景。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第三个部分是工具调用。</a:t>
            </a:r>
          </a:p>
          <a:p/>
          <a:p>
            <a:r>
              <a:t>当模型开始调用外部工具，推理引擎就不只是吐文本了。它要让模型生成 tool_calls，要把参数按 schema 约束住，还要把 reasoning content 和最终回答分开。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工具调用的复杂性首先体现在 parser 层。</a:t>
            </a:r>
          </a:p>
          <a:p/>
          <a:p>
            <a:r>
              <a:t>OpenAI 和 Anthropic 的消息格式不同，Qwen、DeepSeek 这些模型的 chat template 也不同。有的模型把工具调用写成特殊 token，有的写成 JSON，有的还会混入 thinking 内容。</a:t>
            </a:r>
          </a:p>
          <a:p/>
          <a:p>
            <a:r>
              <a:rPr lang="zh-CN" altLang="en-US"/>
              <a:t>所以</a:t>
            </a:r>
            <a:r>
              <a:rPr lang="en-US" altLang="zh-CN"/>
              <a:t> parser layer </a:t>
            </a:r>
            <a:r>
              <a:rPr lang="zh-CN" altLang="en-US"/>
              <a:t>需要在协议、模型模板、流式输出和 </a:t>
            </a:r>
            <a:r>
              <a:rPr lang="en-US" altLang="zh-CN"/>
              <a:t>reasoning </a:t>
            </a:r>
            <a:r>
              <a:rPr lang="zh-CN" altLang="en-US"/>
              <a:t>内容之间做语义对齐。这个层处理不好，上层看到的 </a:t>
            </a:r>
            <a:r>
              <a:rPr lang="en-US" altLang="zh-CN"/>
              <a:t>tool_calls、arguments、reasoning content </a:t>
            </a:r>
            <a:r>
              <a:rPr lang="zh-CN" altLang="en-US"/>
              <a:t>就会不稳定，</a:t>
            </a:r>
            <a:r>
              <a:rPr lang="en-US" altLang="zh-CN"/>
              <a:t>Agent </a:t>
            </a:r>
            <a:r>
              <a:rPr lang="zh-CN" altLang="en-US"/>
              <a:t>执行链路也会跟着出错。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对于两个我们重点关注的推理引擎来说：</a:t>
            </a:r>
            <a:br>
              <a:rPr lang="zh-CN" altLang="en-US"/>
            </a:br>
            <a:r>
              <a:rPr lang="en-US" altLang="zh-CN"/>
              <a:t>1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/>
              <a:t>vLLM </a:t>
            </a:r>
            <a:r>
              <a:rPr lang="zh-CN" altLang="en-US"/>
              <a:t>更像是在统一 </a:t>
            </a:r>
            <a:r>
              <a:rPr lang="en-US" altLang="zh-CN"/>
              <a:t>serving </a:t>
            </a:r>
            <a:r>
              <a:rPr lang="zh-CN" altLang="en-US"/>
              <a:t>层做 </a:t>
            </a:r>
            <a:r>
              <a:rPr lang="en-US" altLang="zh-CN"/>
              <a:t>parser registry：</a:t>
            </a:r>
            <a:r>
              <a:rPr lang="zh-CN" altLang="en-US"/>
              <a:t>针对不同模型注册对应 </a:t>
            </a:r>
            <a:r>
              <a:rPr lang="en-US" altLang="zh-CN"/>
              <a:t>parser，</a:t>
            </a:r>
            <a:r>
              <a:rPr lang="zh-CN" altLang="en-US"/>
              <a:t>把模型原生输出转换成 </a:t>
            </a:r>
            <a:r>
              <a:rPr lang="en-US" altLang="zh-CN"/>
              <a:t>OpenAI-compatible </a:t>
            </a:r>
            <a:r>
              <a:rPr lang="zh-CN" altLang="en-US"/>
              <a:t>字段。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/>
              <a:t>SGLang </a:t>
            </a:r>
            <a:r>
              <a:rPr lang="zh-CN" altLang="en-US"/>
              <a:t>更强调 </a:t>
            </a:r>
            <a:r>
              <a:rPr lang="en-US" altLang="zh-CN"/>
              <a:t>detector、</a:t>
            </a:r>
            <a:r>
              <a:rPr lang="zh-CN" altLang="en-US"/>
              <a:t>结构化约束和 </a:t>
            </a:r>
            <a:r>
              <a:rPr lang="en-US" altLang="zh-CN"/>
              <a:t>runtime </a:t>
            </a:r>
            <a:r>
              <a:rPr lang="zh-CN" altLang="en-US"/>
              <a:t>的结合：它不仅解析输出，还更关注在 </a:t>
            </a:r>
            <a:r>
              <a:rPr lang="en-US" altLang="zh-CN"/>
              <a:t>LM program </a:t>
            </a:r>
            <a:r>
              <a:rPr lang="zh-CN" altLang="en-US"/>
              <a:t>执行过程中什么时候触发工具、什么时候约束结构、什么时候继续生成。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详细解释：</a:t>
            </a:r>
            <a:endParaRPr lang="zh-CN" altLang="en-US"/>
          </a:p>
          <a:p>
            <a:r>
              <a:rPr lang="zh-CN" altLang="en-US"/>
              <a:t>第一层是协议层。</a:t>
            </a:r>
            <a:r>
              <a:rPr lang="en-US" altLang="zh-CN"/>
              <a:t>OpenAI </a:t>
            </a:r>
            <a:r>
              <a:rPr lang="zh-CN" altLang="en-US"/>
              <a:t>和 </a:t>
            </a:r>
            <a:r>
              <a:rPr lang="en-US" altLang="zh-CN"/>
              <a:t>Anthropic </a:t>
            </a:r>
            <a:r>
              <a:rPr lang="zh-CN" altLang="en-US"/>
              <a:t>对工具调用的消息格式不一样：</a:t>
            </a:r>
            <a:r>
              <a:rPr lang="en-US" altLang="zh-CN"/>
              <a:t>OpenAI </a:t>
            </a:r>
            <a:r>
              <a:rPr lang="zh-CN" altLang="en-US"/>
              <a:t>里通常是 </a:t>
            </a:r>
            <a:r>
              <a:rPr lang="en-US" altLang="zh-CN"/>
              <a:t>tool_calls，Anthropic </a:t>
            </a:r>
            <a:r>
              <a:rPr lang="zh-CN" altLang="en-US"/>
              <a:t>里是 </a:t>
            </a:r>
            <a:r>
              <a:rPr lang="en-US" altLang="zh-CN"/>
              <a:t>tool_use。</a:t>
            </a:r>
            <a:r>
              <a:rPr lang="zh-CN" altLang="en-US"/>
              <a:t>如果引擎要提供 </a:t>
            </a:r>
            <a:r>
              <a:rPr lang="en-US" altLang="zh-CN"/>
              <a:t>OpenAI-compatible API，</a:t>
            </a:r>
            <a:r>
              <a:rPr lang="zh-CN" altLang="en-US"/>
              <a:t>就必须把不同协议之间的字段语义对齐，比如工具名、参数、</a:t>
            </a:r>
            <a:r>
              <a:rPr lang="en-US" altLang="zh-CN"/>
              <a:t>tool call id、</a:t>
            </a:r>
            <a:r>
              <a:rPr lang="zh-CN" altLang="en-US"/>
              <a:t>工具返回结果这些字段怎么映射。</a:t>
            </a:r>
            <a:endParaRPr lang="zh-CN" altLang="en-US"/>
          </a:p>
          <a:p>
            <a:r>
              <a:rPr lang="zh-CN" altLang="en-US"/>
              <a:t>第二层是模型层。不同模型的 </a:t>
            </a:r>
            <a:r>
              <a:rPr lang="en-US" altLang="zh-CN"/>
              <a:t>chat template </a:t>
            </a:r>
            <a:r>
              <a:rPr lang="zh-CN" altLang="en-US"/>
              <a:t>不一样，</a:t>
            </a:r>
            <a:r>
              <a:rPr lang="en-US" altLang="zh-CN"/>
              <a:t>Qwen、DeepSeek、GLM、Kimi </a:t>
            </a:r>
            <a:r>
              <a:rPr lang="zh-CN" altLang="en-US"/>
              <a:t>对工具调用和思考内容的组织方式也不同。有的模型依赖特殊 </a:t>
            </a:r>
            <a:r>
              <a:rPr lang="en-US" altLang="zh-CN"/>
              <a:t>token，</a:t>
            </a:r>
            <a:r>
              <a:rPr lang="zh-CN" altLang="en-US"/>
              <a:t>有的更接近 </a:t>
            </a:r>
            <a:r>
              <a:rPr lang="en-US" altLang="zh-CN"/>
              <a:t>JSON，</a:t>
            </a:r>
            <a:r>
              <a:rPr lang="zh-CN" altLang="en-US"/>
              <a:t>有的会把 </a:t>
            </a:r>
            <a:r>
              <a:rPr lang="en-US" altLang="zh-CN"/>
              <a:t>reasoning </a:t>
            </a:r>
            <a:r>
              <a:rPr lang="zh-CN" altLang="en-US"/>
              <a:t>和 </a:t>
            </a:r>
            <a:r>
              <a:rPr lang="en-US" altLang="zh-CN"/>
              <a:t>tool call </a:t>
            </a:r>
            <a:r>
              <a:rPr lang="zh-CN" altLang="en-US"/>
              <a:t>混在同一段输出里。所以 </a:t>
            </a:r>
            <a:r>
              <a:rPr lang="en-US" altLang="zh-CN"/>
              <a:t>parser </a:t>
            </a:r>
            <a:r>
              <a:rPr lang="zh-CN" altLang="en-US"/>
              <a:t>不能只写一套通用正则，而是要有模型专用的 </a:t>
            </a:r>
            <a:r>
              <a:rPr lang="en-US" altLang="zh-CN"/>
              <a:t>detector / parser。</a:t>
            </a:r>
            <a:endParaRPr lang="en-US" altLang="zh-CN"/>
          </a:p>
          <a:p>
            <a:r>
              <a:rPr lang="zh-CN" altLang="en-US"/>
              <a:t>第三层是流式层。实际 </a:t>
            </a:r>
            <a:r>
              <a:rPr lang="en-US" altLang="zh-CN"/>
              <a:t>serving </a:t>
            </a:r>
            <a:r>
              <a:rPr lang="zh-CN" altLang="en-US"/>
              <a:t>往往是 </a:t>
            </a:r>
            <a:r>
              <a:rPr lang="en-US" altLang="zh-CN"/>
              <a:t>streaming </a:t>
            </a:r>
            <a:r>
              <a:rPr lang="zh-CN" altLang="en-US"/>
              <a:t>输出，模型不是一次性把完整 </a:t>
            </a:r>
            <a:r>
              <a:rPr lang="en-US" altLang="zh-CN"/>
              <a:t>JSON </a:t>
            </a:r>
            <a:r>
              <a:rPr lang="zh-CN" altLang="en-US"/>
              <a:t>吐出来，而是一小段一小段返回。这样 </a:t>
            </a:r>
            <a:r>
              <a:rPr lang="en-US" altLang="zh-CN"/>
              <a:t>tool call </a:t>
            </a:r>
            <a:r>
              <a:rPr lang="zh-CN" altLang="en-US"/>
              <a:t>的 </a:t>
            </a:r>
            <a:r>
              <a:rPr lang="en-US" altLang="zh-CN"/>
              <a:t>name、arguments、</a:t>
            </a:r>
            <a:r>
              <a:rPr lang="zh-CN" altLang="en-US"/>
              <a:t>括号、引号都可能分片到达。推理引擎需要一个增量状态机，在还没收到完整内容时先缓存状态，等结构完整后再组装成标准 </a:t>
            </a:r>
            <a:r>
              <a:rPr lang="en-US" altLang="zh-CN"/>
              <a:t>tool call。</a:t>
            </a:r>
            <a:endParaRPr lang="en-US" altLang="zh-CN"/>
          </a:p>
          <a:p>
            <a:r>
              <a:rPr lang="zh-CN" altLang="en-US"/>
              <a:t>第四层是思考层。对 </a:t>
            </a:r>
            <a:r>
              <a:rPr lang="en-US" altLang="zh-CN"/>
              <a:t>DeepSeek、Qwen </a:t>
            </a:r>
            <a:r>
              <a:rPr lang="zh-CN" altLang="en-US"/>
              <a:t>这类带 </a:t>
            </a:r>
            <a:r>
              <a:rPr lang="en-US" altLang="zh-CN"/>
              <a:t>reasoning content </a:t>
            </a:r>
            <a:r>
              <a:rPr lang="zh-CN" altLang="en-US"/>
              <a:t>的模型来说，</a:t>
            </a:r>
            <a:r>
              <a:rPr lang="en-US" altLang="zh-CN"/>
              <a:t>thinking </a:t>
            </a:r>
            <a:r>
              <a:rPr lang="zh-CN" altLang="en-US"/>
              <a:t>和 </a:t>
            </a:r>
            <a:r>
              <a:rPr lang="en-US" altLang="zh-CN"/>
              <a:t>tool call </a:t>
            </a:r>
            <a:r>
              <a:rPr lang="zh-CN" altLang="en-US"/>
              <a:t>可能交替出现，甚至相互打断。</a:t>
            </a:r>
            <a:r>
              <a:rPr lang="en-US" altLang="zh-CN"/>
              <a:t>reasoning parser </a:t>
            </a:r>
            <a:r>
              <a:rPr lang="zh-CN" altLang="en-US"/>
              <a:t>的作用就是把“模型思考过程”和“真正要交给上层执行的工具调用”分开，避免上层 </a:t>
            </a:r>
            <a:r>
              <a:rPr lang="en-US" altLang="zh-CN"/>
              <a:t>Agent </a:t>
            </a:r>
            <a:r>
              <a:rPr lang="zh-CN" altLang="en-US"/>
              <a:t>把思考文本误当成工具参数，或者把工具 </a:t>
            </a:r>
            <a:r>
              <a:rPr lang="en-US" altLang="zh-CN"/>
              <a:t>JSON </a:t>
            </a:r>
            <a:r>
              <a:rPr lang="zh-CN" altLang="en-US"/>
              <a:t>混进最终回答。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约束解码解决的是另一个问题：让模型在生成时就不能走非法路径。</a:t>
            </a:r>
          </a:p>
          <a:p/>
          <a:p>
            <a:r>
              <a:t>没有 grammar 时，模型是先自由生成，再由 parser 或业务代码检查格式。这样很容易出现 JSON 不闭合、字段多余、枚举越界。grammar-constrained decoding 会根据 schema 在每一步计算“哪些 token 还能保持合法”，非法 token 直接被 mask 掉。</a:t>
            </a:r>
          </a:p>
          <a:p/>
          <a:p>
            <a:r>
              <a:t>通俗说，它像给模型铺了一条轨道：模型仍然选择内容，但只能沿着合法语法前进。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</a:t>
            </a:r>
            <a:r>
              <a:rPr lang="zh-CN" altLang="en-US"/>
              <a:t>在讲 </a:t>
            </a:r>
            <a:r>
              <a:rPr lang="en-US" altLang="zh-CN"/>
              <a:t>vLLM </a:t>
            </a:r>
            <a:r>
              <a:rPr lang="zh-CN" altLang="en-US"/>
              <a:t>上 </a:t>
            </a:r>
            <a:r>
              <a:rPr lang="en-US" altLang="zh-CN"/>
              <a:t>Qwen2.5-7B-Instruct </a:t>
            </a:r>
            <a:r>
              <a:rPr lang="zh-CN" altLang="en-US"/>
              <a:t>的 </a:t>
            </a:r>
            <a:r>
              <a:rPr lang="en-US" altLang="zh-CN"/>
              <a:t>tool calling benchmark </a:t>
            </a:r>
            <a:r>
              <a:rPr lang="zh-CN" altLang="en-US"/>
              <a:t>实验设计</a:t>
            </a:r>
            <a:r>
              <a:rPr lang="zh-CN">
                <a:ea typeface="宋体" charset="0"/>
              </a:rPr>
              <a:t>。</a:t>
            </a:r>
            <a:endParaRPr lang="zh-CN">
              <a:ea typeface="宋体" charset="0"/>
            </a:endParaRPr>
          </a:p>
          <a:p>
            <a:endParaRPr lang="zh-CN">
              <a:ea typeface="宋体" charset="0"/>
            </a:endParaRPr>
          </a:p>
          <a:p>
            <a:r>
              <a:rPr lang="zh-CN" altLang="en-US"/>
              <a:t>测试对象可以拆成三层：模型是 </a:t>
            </a:r>
            <a:r>
              <a:rPr lang="en-US" altLang="zh-CN"/>
              <a:t>Qwen2.5-7B-Instruct；</a:t>
            </a:r>
            <a:r>
              <a:rPr lang="zh-CN" altLang="en-US"/>
              <a:t>服务端是 </a:t>
            </a:r>
            <a:r>
              <a:rPr lang="en-US" altLang="zh-CN"/>
              <a:t>vLLM；</a:t>
            </a:r>
            <a:r>
              <a:rPr lang="zh-CN" altLang="en-US"/>
              <a:t>测试任务是工具调用，也就是模型是否应该调用工具、是否选对工具、参数是否符合 </a:t>
            </a:r>
            <a:r>
              <a:rPr lang="en-US" altLang="zh-CN"/>
              <a:t>schema、</a:t>
            </a:r>
            <a:r>
              <a:rPr lang="zh-CN" altLang="en-US"/>
              <a:t>参数语义是否正确，以及调用时机是否合理。</a:t>
            </a:r>
            <a:endParaRPr lang="zh-CN" altLang="en-US">
              <a:ea typeface="宋体" charset="0"/>
            </a:endParaRPr>
          </a:p>
          <a:p>
            <a:endParaRPr lang="zh-CN" altLang="en-US"/>
          </a:p>
          <a:p>
            <a:r>
              <a:t>五组实验的关键，是把变量拆开。full-auto 让模型自己判断要不要调用工具，测的是完整产品链路；positive-oracle 只测应该调用工具的正例，并且直接告诉模型该用哪个工具，排除了“选不选工具”的影响。</a:t>
            </a:r>
          </a:p>
          <a:p/>
          <a:p>
            <a:r>
              <a:t>structured backend 和 strict grammar 又分别回答两个问题：只开后端有没有额外开销，真正加 schema 强约束后，对准确率、误调用和延迟有什么影响。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这页是具体结果。</a:t>
            </a:r>
          </a:p>
          <a:p/>
          <a:p>
            <a:r>
              <a:t>先看 full-auto：不开 structured 和只开 structured 的结果几乎一样，说明后端能力本身没有带来可见延迟或行为变化。加 strict 后，平均延迟从 620.3ms 到 626.9ms，大约增加 1.1%，但 false call 从 0.1290 降到 0.0968，timing 也略升。</a:t>
            </a:r>
          </a:p>
          <a:p/>
          <a:p>
            <a:r>
              <a:t>再看 oracle：strict 不提升参数准确率，schema 都是 1.0。</a:t>
            </a:r>
            <a:r>
              <a:rPr lang="zh-CN" altLang="en-US"/>
              <a:t>是因为 </a:t>
            </a:r>
            <a:r>
              <a:rPr lang="en-US" altLang="zh-CN"/>
              <a:t>strict </a:t>
            </a:r>
            <a:r>
              <a:rPr lang="zh-CN" altLang="en-US"/>
              <a:t>只能约束参数必须符合 </a:t>
            </a:r>
            <a:r>
              <a:rPr lang="en-US" altLang="zh-CN"/>
              <a:t>schema，</a:t>
            </a:r>
            <a:r>
              <a:rPr lang="zh-CN" altLang="en-US"/>
              <a:t>比如字段名、类型、枚举范围；但它不能保证模型把用户真正想要的地点、时间、对象、数值填对。</a:t>
            </a:r>
            <a:r>
              <a:t>这说明 grammar 更擅长保证格式合法和调用行为稳定，但不能保证参数语义一定正确。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最后一部分进入评测工具链。前面我们一直在讨论推理引擎、</a:t>
            </a:r>
            <a:r>
              <a:rPr lang="en-US" altLang="zh-CN"/>
              <a:t>KV Cache、</a:t>
            </a:r>
            <a:r>
              <a:rPr lang="zh-CN" altLang="en-US"/>
              <a:t>工具调用这些技术机制，但这些判断如果只停留在“感觉哪个更好”，就很难复现，也很难横向比较。所以评测这一章的核心，是把技术判断变成可以重复验证的证据。</a:t>
            </a:r>
            <a:endParaRPr lang="zh-CN" altLang="en-US"/>
          </a:p>
          <a:p>
            <a:r>
              <a:rPr lang="zh-CN" altLang="en-US"/>
              <a:t>这里我会把评测先拆成三个维度。</a:t>
            </a:r>
            <a:endParaRPr lang="zh-CN" altLang="en-US"/>
          </a:p>
          <a:p>
            <a:r>
              <a:rPr lang="zh-CN" altLang="en-US"/>
              <a:t>第一个维度是模型会不会。这类评测关注模型能力本身，比如知识、推理、代码、选择题、生成质量</a:t>
            </a:r>
            <a:r>
              <a:rPr lang="en-US" altLang="zh-CN"/>
              <a:t>。</a:t>
            </a:r>
            <a:r>
              <a:rPr lang="zh-CN" altLang="en-US"/>
              <a:t>它回答的是：同一个模型在固定任务上能不能答对。</a:t>
            </a:r>
            <a:endParaRPr lang="zh-CN" altLang="en-US"/>
          </a:p>
          <a:p>
            <a:r>
              <a:rPr lang="zh-CN" altLang="en-US"/>
              <a:t>第二个维度是服务快不快、稳不稳。这类评测主要看 </a:t>
            </a:r>
            <a:r>
              <a:rPr lang="en-US" altLang="zh-CN"/>
              <a:t>serving </a:t>
            </a:r>
            <a:r>
              <a:rPr lang="zh-CN" altLang="en-US"/>
              <a:t>系统在不同输入长度、输出长度、并发压力下的 </a:t>
            </a:r>
            <a:r>
              <a:rPr lang="en-US" altLang="zh-CN"/>
              <a:t>TTFT、TPOT、</a:t>
            </a:r>
            <a:r>
              <a:rPr lang="zh-CN" altLang="en-US"/>
              <a:t>吞吐和失败率</a:t>
            </a:r>
            <a:r>
              <a:rPr lang="en-US" altLang="zh-CN"/>
              <a:t>。</a:t>
            </a:r>
            <a:r>
              <a:rPr lang="zh-CN" altLang="en-US"/>
              <a:t>它回答的是：这个模型服务能不能承载真实请求压力。</a:t>
            </a:r>
            <a:endParaRPr lang="zh-CN" altLang="en-US"/>
          </a:p>
          <a:p>
            <a:r>
              <a:rPr lang="zh-CN" altLang="en-US"/>
              <a:t>第三个维度是长上下文是否真的可用。长上下文不能只看模型支持多少 </a:t>
            </a:r>
            <a:r>
              <a:rPr lang="en-US" altLang="zh-CN"/>
              <a:t>token，</a:t>
            </a:r>
            <a:r>
              <a:rPr lang="zh-CN" altLang="en-US"/>
              <a:t>还要看它能不能利用长距离信息，以及服务端能不能以可接受的成本跑起来。</a:t>
            </a:r>
            <a:r>
              <a:rPr lang="en-US" altLang="zh-CN"/>
              <a:t>LongBench、RULER、InfiniteBench </a:t>
            </a:r>
            <a:r>
              <a:rPr lang="zh-CN" altLang="en-US"/>
              <a:t>更偏这一层。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这一页是在讲能力评测，测的对象是 </a:t>
            </a:r>
            <a:r>
              <a:rPr lang="en-US" altLang="zh-CN"/>
              <a:t>Qwen2.5-7B-Instruct，</a:t>
            </a:r>
            <a:r>
              <a:rPr lang="zh-CN" altLang="en-US"/>
              <a:t>使用的工具是 </a:t>
            </a:r>
            <a:r>
              <a:rPr lang="en-US" altLang="zh-CN"/>
              <a:t>lm-eval，</a:t>
            </a:r>
            <a:r>
              <a:rPr lang="zh-CN" altLang="en-US"/>
              <a:t>任务是 </a:t>
            </a:r>
            <a:r>
              <a:rPr lang="en-US" altLang="zh-CN"/>
              <a:t>ARC-Easy </a:t>
            </a:r>
            <a:r>
              <a:rPr lang="zh-CN" altLang="en-US"/>
              <a:t>和 </a:t>
            </a:r>
            <a:r>
              <a:rPr lang="en-US" altLang="zh-CN"/>
              <a:t>HellaSwag，</a:t>
            </a:r>
            <a:r>
              <a:rPr lang="zh-CN" altLang="en-US"/>
              <a:t>设置是 0-</a:t>
            </a:r>
            <a:r>
              <a:rPr lang="en-US" altLang="zh-CN"/>
              <a:t>shot full run。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在固定评测任务下，这个模型本身的能力分数是多少。</a:t>
            </a:r>
            <a:r>
              <a:rPr lang="en-US" altLang="zh-CN"/>
              <a:t>ARC-Easy </a:t>
            </a:r>
            <a:r>
              <a:rPr lang="zh-CN" altLang="en-US"/>
              <a:t>更偏基础科学问答和选择题能力，</a:t>
            </a:r>
            <a:r>
              <a:rPr lang="en-US" altLang="zh-CN"/>
              <a:t>HellaSwag </a:t>
            </a:r>
            <a:r>
              <a:rPr lang="zh-CN" altLang="en-US"/>
              <a:t>更偏常识推理和句子补全能力。</a:t>
            </a:r>
            <a:endParaRPr lang="zh-CN" altLang="en-US"/>
          </a:p>
          <a:p>
            <a:r>
              <a:rPr lang="zh-CN" altLang="en-US"/>
              <a:t>结果上，</a:t>
            </a:r>
            <a:r>
              <a:rPr lang="en-US" altLang="zh-CN"/>
              <a:t>Qwen2.5-7B-Instruct </a:t>
            </a:r>
            <a:r>
              <a:rPr lang="zh-CN" altLang="en-US"/>
              <a:t>在 </a:t>
            </a:r>
            <a:r>
              <a:rPr lang="en-US" altLang="zh-CN"/>
              <a:t>ARC-Easy </a:t>
            </a:r>
            <a:r>
              <a:rPr lang="zh-CN" altLang="en-US"/>
              <a:t>上的 </a:t>
            </a:r>
            <a:r>
              <a:rPr lang="en-US" altLang="zh-CN"/>
              <a:t>acc </a:t>
            </a:r>
            <a:r>
              <a:rPr lang="zh-CN" altLang="en-US"/>
              <a:t>是 0.6831，完整样本数是 2376；在 </a:t>
            </a:r>
            <a:r>
              <a:rPr lang="en-US" altLang="zh-CN"/>
              <a:t>HellaSwag </a:t>
            </a:r>
            <a:r>
              <a:rPr lang="zh-CN" altLang="en-US"/>
              <a:t>上的 </a:t>
            </a:r>
            <a:r>
              <a:rPr lang="en-US" altLang="zh-CN"/>
              <a:t>acc_norm </a:t>
            </a:r>
            <a:r>
              <a:rPr lang="zh-CN" altLang="en-US"/>
              <a:t>是 0.6538，完整样本数是 10042。</a:t>
            </a:r>
            <a:endParaRPr lang="zh-CN" altLang="en-US"/>
          </a:p>
          <a:p>
            <a:r>
              <a:rPr lang="zh-CN" altLang="en-US"/>
              <a:t>为什么要先做这个基线？因为后面如果换推理引擎、换 </a:t>
            </a:r>
            <a:r>
              <a:rPr lang="en-US" altLang="zh-CN"/>
              <a:t>serving </a:t>
            </a:r>
            <a:r>
              <a:rPr lang="zh-CN" altLang="en-US"/>
              <a:t>参数、换量化方式，或者改 </a:t>
            </a:r>
            <a:r>
              <a:rPr lang="en-US" altLang="zh-CN"/>
              <a:t>prompt template，</a:t>
            </a:r>
            <a:r>
              <a:rPr lang="zh-CN" altLang="en-US"/>
              <a:t>我们需要知道模型能力有没有被影响。只要模型、任务、样本、</a:t>
            </a:r>
            <a:r>
              <a:rPr lang="en-US" altLang="zh-CN"/>
              <a:t>metric </a:t>
            </a:r>
            <a:r>
              <a:rPr lang="zh-CN" altLang="en-US"/>
              <a:t>和 0-</a:t>
            </a:r>
            <a:r>
              <a:rPr lang="en-US" altLang="zh-CN"/>
              <a:t>shot </a:t>
            </a:r>
            <a:r>
              <a:rPr lang="zh-CN" altLang="en-US"/>
              <a:t>设置固定下来，这组分数就可以作为后续复现实验的第一版参照。</a:t>
            </a:r>
            <a:endParaRPr lang="zh-CN" altLang="en-US"/>
          </a:p>
          <a:p/>
          <a:p/>
          <a:p>
            <a:r>
              <a:rPr lang="en-US" altLang="zh-CN"/>
              <a:t>acc </a:t>
            </a:r>
            <a:r>
              <a:rPr lang="zh-CN" altLang="en-US"/>
              <a:t>是直接比整个答案谁更像模型会说的；</a:t>
            </a:r>
            <a:r>
              <a:rPr lang="en-US" altLang="zh-CN"/>
              <a:t>acc_norm </a:t>
            </a:r>
            <a:r>
              <a:rPr lang="zh-CN" altLang="en-US"/>
              <a:t>是先把答案长度影响扣掉，再比哪个选项更合理。</a:t>
            </a:r>
            <a:endParaRPr lang="zh-CN" altLang="en-US"/>
          </a:p>
          <a:p>
            <a:r>
              <a:rPr lang="zh-CN" altLang="en-US"/>
              <a:t>所以 </a:t>
            </a:r>
            <a:r>
              <a:rPr lang="en-US" altLang="zh-CN"/>
              <a:t>HellaSwag </a:t>
            </a:r>
            <a:r>
              <a:rPr lang="zh-CN" altLang="en-US"/>
              <a:t>这类选项长度差异比较明显的任务里，经常更关注 </a:t>
            </a:r>
            <a:r>
              <a:rPr lang="en-US" altLang="zh-CN"/>
              <a:t>acc_norm。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在能力基线之后，再建立一套性能基线。不再关心答案对不对，而是关心同一个模型作为在线服务时，面对不同长度的请求，响应快不快、吞吐高不高、瓶颈出在哪里。</a:t>
            </a:r>
            <a:endParaRPr lang="zh-CN" altLang="en-US"/>
          </a:p>
          <a:p>
            <a:r>
              <a:rPr lang="zh-CN" altLang="en-US"/>
              <a:t>这里的测试对象是 </a:t>
            </a:r>
            <a:r>
              <a:rPr lang="en-US" altLang="zh-CN"/>
              <a:t>vLLM serving </a:t>
            </a:r>
            <a:r>
              <a:rPr lang="zh-CN" altLang="en-US"/>
              <a:t>下的 </a:t>
            </a:r>
            <a:r>
              <a:rPr lang="en-US" altLang="zh-CN"/>
              <a:t>Qwen2.5-7B-Instruct。</a:t>
            </a:r>
            <a:r>
              <a:rPr lang="zh-CN" altLang="en-US"/>
              <a:t>我把请求拆成三种 </a:t>
            </a:r>
            <a:r>
              <a:rPr lang="en-US" altLang="zh-CN"/>
              <a:t>workload：</a:t>
            </a:r>
            <a:r>
              <a:rPr lang="zh-CN" altLang="en-US"/>
              <a:t>短输入短输出、长输入短输出、长输入长输出。这样做的目的，是把 </a:t>
            </a:r>
            <a:r>
              <a:rPr lang="en-US" altLang="zh-CN"/>
              <a:t>prefill </a:t>
            </a:r>
            <a:r>
              <a:rPr lang="zh-CN" altLang="en-US"/>
              <a:t>和 </a:t>
            </a:r>
            <a:r>
              <a:rPr lang="en-US" altLang="zh-CN"/>
              <a:t>decode </a:t>
            </a:r>
            <a:r>
              <a:rPr lang="zh-CN" altLang="en-US"/>
              <a:t>的压力拆开看。</a:t>
            </a:r>
            <a:endParaRPr lang="zh-CN" altLang="en-US"/>
          </a:p>
          <a:p/>
          <a:p>
            <a:r>
              <a:t>短输入短输出主要看基础吞吐和调度开销；长输入短输出更考验 prefill、KV Cache 和 TTFT；长输入长输出则把 prefill 与 decode 压力叠加起来。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长上下文评测也要分层。</a:t>
            </a:r>
          </a:p>
          <a:p/>
          <a:p>
            <a:r>
              <a:rPr lang="zh-CN" altLang="en-US"/>
              <a:t>第一层是能力：模型支持 32</a:t>
            </a:r>
            <a:r>
              <a:rPr lang="en-US" altLang="zh-CN"/>
              <a:t>K、128K context，</a:t>
            </a:r>
            <a:r>
              <a:rPr lang="zh-CN" altLang="en-US"/>
              <a:t>不代表它真的能利用很远位置的信息。</a:t>
            </a:r>
            <a:r>
              <a:rPr lang="en-US" altLang="zh-CN"/>
              <a:t>LongBench、RULER </a:t>
            </a:r>
            <a:r>
              <a:rPr lang="zh-CN" altLang="en-US"/>
              <a:t>这类评测就是看模型能不能在长文本里找对、用对关键信息。</a:t>
            </a:r>
            <a:endParaRPr lang="zh-CN" altLang="en-US"/>
          </a:p>
          <a:p>
            <a:r>
              <a:rPr lang="zh-CN" altLang="en-US"/>
              <a:t>第二层是性能：长输入会拉高 </a:t>
            </a:r>
            <a:r>
              <a:rPr lang="en-US" altLang="zh-CN"/>
              <a:t>prefill </a:t>
            </a:r>
            <a:r>
              <a:rPr lang="zh-CN" altLang="en-US"/>
              <a:t>和 </a:t>
            </a:r>
            <a:r>
              <a:rPr lang="en-US" altLang="zh-CN"/>
              <a:t>TTFT，</a:t>
            </a:r>
            <a:r>
              <a:rPr lang="zh-CN" altLang="en-US"/>
              <a:t>长输出会拉高 </a:t>
            </a:r>
            <a:r>
              <a:rPr lang="en-US" altLang="zh-CN"/>
              <a:t>decode </a:t>
            </a:r>
            <a:r>
              <a:rPr lang="zh-CN" altLang="en-US"/>
              <a:t>和 </a:t>
            </a:r>
            <a:r>
              <a:rPr lang="en-US" altLang="zh-CN"/>
              <a:t>E2E，KV Cache </a:t>
            </a:r>
            <a:r>
              <a:rPr lang="zh-CN" altLang="en-US"/>
              <a:t>也会随上下文变长而快速增长。所以需要 </a:t>
            </a:r>
            <a:r>
              <a:rPr lang="en-US" altLang="zh-CN"/>
              <a:t>vLLM benchmark </a:t>
            </a:r>
            <a:r>
              <a:rPr lang="zh-CN" altLang="en-US"/>
              <a:t>这类测试看服务能不能扛住。</a:t>
            </a:r>
            <a:endParaRPr lang="zh-CN" altLang="en-US"/>
          </a:p>
          <a:p>
            <a:r>
              <a:rPr lang="zh-CN" altLang="en-US"/>
              <a:t>第三层是机制：如果长上下文表现不好，要进一步看是 </a:t>
            </a:r>
            <a:r>
              <a:rPr lang="en-US" altLang="zh-CN"/>
              <a:t>KV Cache </a:t>
            </a:r>
            <a:r>
              <a:rPr lang="zh-CN" altLang="en-US"/>
              <a:t>增长、窗口机制、</a:t>
            </a:r>
            <a:r>
              <a:rPr lang="en-US" altLang="zh-CN"/>
              <a:t>prefix caching，</a:t>
            </a:r>
            <a:r>
              <a:rPr lang="zh-CN" altLang="en-US"/>
              <a:t>还是 </a:t>
            </a:r>
            <a:r>
              <a:rPr lang="en-US" altLang="zh-CN"/>
              <a:t>chunked prefill </a:t>
            </a:r>
            <a:r>
              <a:rPr lang="zh-CN" altLang="en-US"/>
              <a:t>的问题。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这一页讲 </a:t>
            </a:r>
            <a:r>
              <a:rPr lang="en-US" altLang="zh-CN"/>
              <a:t>StreamingLLM，</a:t>
            </a:r>
            <a:r>
              <a:rPr lang="zh-CN" altLang="en-US"/>
              <a:t>它解决的不是“无限长记忆”，而是“长时间生成时怎么保持稳定”。</a:t>
            </a:r>
            <a:endParaRPr lang="zh-CN" altLang="en-US"/>
          </a:p>
          <a:p>
            <a:r>
              <a:rPr lang="zh-CN" altLang="en-US"/>
              <a:t>普通 </a:t>
            </a:r>
            <a:r>
              <a:rPr lang="en-US" altLang="zh-CN"/>
              <a:t>Transformer </a:t>
            </a:r>
            <a:r>
              <a:rPr lang="zh-CN" altLang="en-US"/>
              <a:t>持续生成时，</a:t>
            </a:r>
            <a:r>
              <a:rPr lang="en-US" altLang="zh-CN"/>
              <a:t>KV Cache </a:t>
            </a:r>
            <a:r>
              <a:rPr lang="zh-CN" altLang="en-US"/>
              <a:t>会一直增长；如果简单丢掉最早的 </a:t>
            </a:r>
            <a:r>
              <a:rPr lang="en-US" altLang="zh-CN"/>
              <a:t>token，</a:t>
            </a:r>
            <a:r>
              <a:rPr lang="zh-CN" altLang="en-US"/>
              <a:t>输出又容易变差。</a:t>
            </a:r>
            <a:r>
              <a:rPr lang="en-US" altLang="zh-CN"/>
              <a:t>StreamingLLM </a:t>
            </a:r>
            <a:r>
              <a:rPr lang="zh-CN" altLang="en-US"/>
              <a:t>的核心观察是：模型会长期关注开头少量 </a:t>
            </a:r>
            <a:r>
              <a:rPr lang="en-US" altLang="zh-CN"/>
              <a:t>token，</a:t>
            </a:r>
            <a:r>
              <a:rPr lang="zh-CN" altLang="en-US"/>
              <a:t>这些 </a:t>
            </a:r>
            <a:r>
              <a:rPr lang="en-US" altLang="zh-CN"/>
              <a:t>token </a:t>
            </a:r>
            <a:r>
              <a:rPr lang="zh-CN" altLang="en-US"/>
              <a:t>像 </a:t>
            </a:r>
            <a:r>
              <a:rPr lang="en-US" altLang="zh-CN"/>
              <a:t>attention </a:t>
            </a:r>
            <a:r>
              <a:rPr lang="zh-CN" altLang="en-US"/>
              <a:t>的锚点，叫 </a:t>
            </a:r>
            <a:r>
              <a:rPr lang="en-US" altLang="zh-CN"/>
              <a:t>attention sink。</a:t>
            </a:r>
            <a:endParaRPr lang="en-US" altLang="zh-CN"/>
          </a:p>
          <a:p>
            <a:r>
              <a:rPr lang="zh-CN" altLang="en-US"/>
              <a:t>所以它保留两部分 </a:t>
            </a:r>
            <a:r>
              <a:rPr lang="en-US" altLang="zh-CN"/>
              <a:t>KV：</a:t>
            </a:r>
            <a:r>
              <a:rPr lang="zh-CN" altLang="en-US"/>
              <a:t>开头的 </a:t>
            </a:r>
            <a:r>
              <a:rPr lang="en-US" altLang="zh-CN"/>
              <a:t>sink tokens，</a:t>
            </a:r>
            <a:r>
              <a:rPr lang="zh-CN" altLang="en-US"/>
              <a:t>以及最近一段 </a:t>
            </a:r>
            <a:r>
              <a:rPr lang="en-US" altLang="zh-CN"/>
              <a:t>sliding window tokens；</a:t>
            </a:r>
            <a:r>
              <a:rPr lang="zh-CN" altLang="en-US"/>
              <a:t>中间很早的历史可以丢掉。这样能控制 </a:t>
            </a:r>
            <a:r>
              <a:rPr lang="en-US" altLang="zh-CN"/>
              <a:t>KV Cache </a:t>
            </a:r>
            <a:r>
              <a:rPr lang="zh-CN" altLang="en-US"/>
              <a:t>增长，也能让长时间 </a:t>
            </a:r>
            <a:r>
              <a:rPr lang="en-US" altLang="zh-CN"/>
              <a:t>streaming generation </a:t>
            </a:r>
            <a:r>
              <a:rPr lang="zh-CN" altLang="en-US"/>
              <a:t>更稳定。</a:t>
            </a:r>
            <a:endParaRPr lang="zh-CN" altLang="en-US"/>
          </a:p>
          <a:p>
            <a:r>
              <a:rPr lang="zh-CN" altLang="en-US"/>
              <a:t>但要注意，它不是让模型记住所有历史。被丢掉的中间内容，模型通常就不能精确回忆了。它解决的是“能稳定继续生成”，不是“拥有无限上下文记忆”。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下一阶段需要把这些经验固化成联合评测模板。</a:t>
            </a:r>
          </a:p>
          <a:p/>
          <a:p>
            <a:r>
              <a:t>一个完整样例应该包含任务、metric、prompt、原始输出、服务参数、硬件信息和运行日志。能力侧证明模型会不会，性能侧证明系统能不能扛，结构化侧证明输出能不能被可靠解析。</a:t>
            </a:r>
          </a:p>
          <a:p/>
          <a:p>
            <a:r>
              <a:t>这样 benchmark 就不只是一次跑分，而是能积累、能回归、能解释问题来源的工程资产。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最后回到整个月的主线。</a:t>
            </a:r>
          </a:p>
          <a:p/>
          <a:p>
            <a:r>
              <a:t>我们其实建立的是从计算底座到推理系统的完整问题意识：FlashAttention 解决 attention 计算和 IO；serving engine 决定 runtime 取舍；KV Cache 决定长上下文和并发能力；工具调用决定 Agent 输出能否结构化；评测闭环决定这些判断能否被验证。</a:t>
            </a:r>
          </a:p>
          <a:p/>
          <a:p>
            <a:r>
              <a:t>所以我最后的结论是：推理引擎不是单纯跑模型的容器，而是把模型能力变成可靠服务的运行时系统。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LLM Inference Systems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1430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LLM 推理引擎技术栈全景</a:t>
            </a:r>
            <a:endParaRPr sz="435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20383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从 Serving、KV Cache、工具调用到评测闭环</a:t>
            </a:r>
            <a:endParaRPr sz="2025" b="0">
              <a:solidFill>
                <a:srgbClr val="555555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00050" y="3429000"/>
            <a:ext cx="11049000" cy="1795145"/>
          </a:xfrm>
          <a:prstGeom prst="roundRect">
            <a:avLst>
              <a:gd name="adj" fmla="val 9480"/>
            </a:avLst>
          </a:prstGeom>
          <a:solidFill>
            <a:srgbClr val="041C3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733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chemeClr val="bg1"/>
                </a:solidFill>
              </a:rPr>
              <a:t>一个月的调研主线</a:t>
            </a:r>
            <a:endParaRPr sz="15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41148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能跑 → 跑快 → 可控 → 可评测</a:t>
            </a:r>
            <a:endParaRPr sz="2850" b="1">
              <a:solidFill>
                <a:srgbClr val="FF6B3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47053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chemeClr val="bg1"/>
                </a:solidFill>
              </a:rPr>
              <a:t>基于四份调研报告与 benchmark 实践</a:t>
            </a:r>
            <a:endParaRPr sz="1275" b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Compute Kernel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02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推理优化先从一次 attention 的计算过程开始</a:t>
            </a:r>
            <a:endParaRPr sz="330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859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Online Softmax 到 FlashAttention 这条链，解决的是同样的数学结果如何少访问 HBM。</a:t>
            </a:r>
            <a:endParaRPr sz="1800" b="0">
              <a:solidFill>
                <a:srgbClr val="5F6368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3431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590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Safe Softmax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086100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先求最大值，再求分母，最后输出概率。数值稳定，但要多次扫描。</a:t>
            </a:r>
            <a:endParaRPr sz="1350" b="0">
              <a:solidFill>
                <a:srgbClr val="5F636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514850" y="23431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9525">
            <a:solidFill>
              <a:srgbClr val="E1E4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62500" y="2590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6935"/>
                </a:solidFill>
              </a:defRPr>
            </a:pPr>
            <a:r>
              <a:rPr sz="1800" b="1">
                <a:solidFill>
                  <a:schemeClr val="tx1"/>
                </a:solidFill>
              </a:rPr>
              <a:t>Online Normalizer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3086100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维护 m 与 ℓ 两个在线状态，一边读一边更新归一化分母。</a:t>
            </a:r>
            <a:endParaRPr sz="1350" b="0">
              <a:solidFill>
                <a:srgbClr val="5F6368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43900" y="23431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91550" y="2590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FlashAttention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91550" y="3086100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继续维护输出 O，把 QK^T、softmax、乘 V 放进 tile 里融合计算。</a:t>
            </a:r>
            <a:endParaRPr sz="1350" b="0">
              <a:solidFill>
                <a:srgbClr val="5F6368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4838700"/>
            <a:ext cx="10801350" cy="838200"/>
          </a:xfrm>
          <a:prstGeom prst="roundRect">
            <a:avLst>
              <a:gd name="adj" fmla="val 9091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4968240"/>
            <a:ext cx="10937875" cy="56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现代 GPU 往往不是算不动 attention，而是反复读写 N×N 中间矩阵太贵；</a:t>
            </a:r>
            <a:endParaRPr sz="1575" b="0">
              <a:solidFill>
                <a:srgbClr val="FFFFFF"/>
              </a:solidFill>
            </a:endParaRPr>
          </a:p>
          <a:p>
            <a:pPr algn="ctr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FlashAttention 的收益来自 IO-aware 计算顺序</a:t>
            </a:r>
            <a:endParaRPr sz="1575" b="0">
              <a:solidFill>
                <a:srgbClr val="FFFFFF"/>
              </a:solidFill>
            </a:endParaRPr>
          </a:p>
        </p:txBody>
      </p:sp>
      <p:cxnSp>
        <p:nvCxnSpPr>
          <p:cNvPr id="36" name="直接连接符 24"/>
          <p:cNvCxnSpPr/>
          <p:nvPr/>
        </p:nvCxnSpPr>
        <p:spPr>
          <a:xfrm>
            <a:off x="3829050" y="3248025"/>
            <a:ext cx="685800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4"/>
          <p:cNvCxnSpPr/>
          <p:nvPr/>
        </p:nvCxnSpPr>
        <p:spPr>
          <a:xfrm>
            <a:off x="7658100" y="3248025"/>
            <a:ext cx="685800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FlashAttention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03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FlashAttention 把 N×N 中间矩阵留在片上</a:t>
            </a:r>
            <a:endParaRPr sz="3300" b="1">
              <a:solidFill>
                <a:srgbClr val="11111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809750"/>
            <a:ext cx="4161790" cy="2971800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7090" y="20955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标准 Attention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47090" y="2743200"/>
            <a:ext cx="3905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1. 计算 S = QKᵀ，写入 HBM</a:t>
            </a:r>
            <a:endParaRPr sz="1725" b="0">
              <a:solidFill>
                <a:srgbClr val="111111"/>
              </a:solidFill>
            </a:endParaRPr>
          </a:p>
          <a:p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2. 读取 S 做 softmax，写出 P</a:t>
            </a:r>
            <a:endParaRPr sz="1725" b="0">
              <a:solidFill>
                <a:srgbClr val="111111"/>
              </a:solidFill>
            </a:endParaRPr>
          </a:p>
          <a:p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3. 读取 P 和 V，计算 O = PV</a:t>
            </a:r>
            <a:endParaRPr sz="1725" b="0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7090" y="42100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问题：S 和 P 都是 N×N，长上下文下显存读写随长度平方增长。</a:t>
            </a:r>
            <a:endParaRPr sz="1350" b="0">
              <a:solidFill>
                <a:srgbClr val="5F636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370445" y="1809750"/>
            <a:ext cx="4135755" cy="2971800"/>
          </a:xfrm>
          <a:prstGeom prst="roundRect">
            <a:avLst>
              <a:gd name="adj" fmla="val 2564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79030" y="20955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FlashAttention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79030" y="2743200"/>
            <a:ext cx="3905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1. 读入 Q/K/V tile</a:t>
            </a:r>
            <a:endParaRPr sz="1725" b="0">
              <a:solidFill>
                <a:srgbClr val="FFFFFF"/>
              </a:solidFill>
            </a:endParaRPr>
          </a:p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2. 在片上算 rowmax 与 rowsum</a:t>
            </a:r>
            <a:endParaRPr sz="1725" b="0">
              <a:solidFill>
                <a:srgbClr val="FFFFFF"/>
              </a:solidFill>
            </a:endParaRPr>
          </a:p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3. 在线更新 m、l、O</a:t>
            </a:r>
            <a:endParaRPr sz="1725" b="0">
              <a:solidFill>
                <a:srgbClr val="FFFFFF"/>
              </a:solidFill>
            </a:endParaRPr>
          </a:p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4. 只保存 O 和 LSE</a:t>
            </a:r>
            <a:endParaRPr sz="172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79030" y="42100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结果：S/P 只在 SRAM/register 的 tile 中短暂存在，不再作为完整矩阵写回 HBM。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87315" y="2493010"/>
            <a:ext cx="1898650" cy="680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buNone/>
              <a:defRPr sz="1200" b="1">
                <a:solidFill>
                  <a:srgbClr val="FF6935"/>
                </a:solidFill>
              </a:defRPr>
            </a:pPr>
            <a:r>
              <a:rPr sz="1400" b="1">
                <a:solidFill>
                  <a:srgbClr val="FF6935"/>
                </a:solidFill>
              </a:rPr>
              <a:t>同样 exact attention</a:t>
            </a:r>
            <a:r>
              <a:rPr lang="zh-CN" sz="1400" b="1">
                <a:solidFill>
                  <a:srgbClr val="FF6935"/>
                </a:solidFill>
                <a:ea typeface="宋体" charset="0"/>
              </a:rPr>
              <a:t>，</a:t>
            </a:r>
            <a:r>
              <a:rPr sz="1400">
                <a:sym typeface="+mn-ea"/>
              </a:rPr>
              <a:t>更少 HBM 往返</a:t>
            </a:r>
            <a:r>
              <a:rPr lang="zh-CN" sz="1400">
                <a:ea typeface="宋体" charset="0"/>
                <a:sym typeface="+mn-ea"/>
              </a:rPr>
              <a:t>。</a:t>
            </a:r>
            <a:endParaRPr lang="zh-CN" sz="1400" b="1">
              <a:solidFill>
                <a:srgbClr val="FF6935"/>
              </a:solidFill>
              <a:ea typeface="宋体" charset="0"/>
              <a:sym typeface="+mn-ea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5480" y="5286375"/>
            <a:ext cx="10802620" cy="76581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1225" y="5405120"/>
            <a:ext cx="10387330" cy="52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这也是后面 KV Cache、PagedAttention、RadixAttention 和 serving benchmark 的共同背景：</a:t>
            </a:r>
            <a:endParaRPr sz="1500" b="0">
              <a:solidFill>
                <a:srgbClr val="111111"/>
              </a:solidFill>
            </a:endParaRPr>
          </a:p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优化重点从“少算一点”转向“少搬数据、会调度”。</a:t>
            </a:r>
            <a:endParaRPr sz="1500" b="0">
              <a:solidFill>
                <a:srgbClr val="111111"/>
              </a:solidFill>
            </a:endParaRPr>
          </a:p>
        </p:txBody>
      </p:sp>
      <p:cxnSp>
        <p:nvCxnSpPr>
          <p:cNvPr id="36" name="直接连接符 24"/>
          <p:cNvCxnSpPr>
            <a:stCxn id="6" idx="3"/>
            <a:endCxn id="10" idx="1"/>
          </p:cNvCxnSpPr>
          <p:nvPr/>
        </p:nvCxnSpPr>
        <p:spPr>
          <a:xfrm>
            <a:off x="4847590" y="3295650"/>
            <a:ext cx="2522855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6" name="直接连接符 24"/>
          <p:cNvCxnSpPr>
            <a:stCxn id="7" idx="3"/>
            <a:endCxn id="19" idx="1"/>
          </p:cNvCxnSpPr>
          <p:nvPr/>
        </p:nvCxnSpPr>
        <p:spPr>
          <a:xfrm>
            <a:off x="2966085" y="3181350"/>
            <a:ext cx="6026785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Communication Job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7670" y="769620"/>
            <a:ext cx="11272520" cy="1116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indent="457200" algn="l">
              <a:lnSpc>
                <a:spcPct val="150000"/>
              </a:lnSpc>
              <a:buNone/>
              <a:defRPr sz="3450" b="1">
                <a:solidFill>
                  <a:srgbClr val="000000"/>
                </a:solidFill>
              </a:defRPr>
            </a:pPr>
            <a:r>
              <a:rPr sz="2400" b="0">
                <a:solidFill>
                  <a:schemeClr val="tx1"/>
                </a:solidFill>
              </a:rPr>
              <a:t>一个模型要变成可靠服务，需要先优化 attention 计算，再贯穿服务架构、动态状态、Agent 结构化输出和评测闭环。</a:t>
            </a:r>
            <a:endParaRPr sz="2400" b="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89585" y="2724150"/>
            <a:ext cx="2476500" cy="914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2935" y="28575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能跑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2935" y="319595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400" b="0">
                <a:solidFill>
                  <a:schemeClr val="bg1"/>
                </a:solidFill>
              </a:rPr>
              <a:t>推理引擎与 API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71850" y="2724150"/>
            <a:ext cx="2476500" cy="914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05200" y="28575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跑快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05200" y="319595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400" b="0">
                <a:solidFill>
                  <a:schemeClr val="bg1"/>
                </a:solidFill>
              </a:rPr>
              <a:t>KV Cache 与调度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82360" y="2724150"/>
            <a:ext cx="2476500" cy="914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15710" y="28575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可控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15710" y="319595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400" b="0">
                <a:solidFill>
                  <a:schemeClr val="bg1"/>
                </a:solidFill>
              </a:rPr>
              <a:t>工具调用与思考解析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992870" y="2724150"/>
            <a:ext cx="2476500" cy="914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26220" y="28575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可评测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26220" y="319595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400" b="0">
                <a:solidFill>
                  <a:schemeClr val="bg1"/>
                </a:solidFill>
              </a:rPr>
              <a:t>能力 + 性能 + 长上下文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9585" y="4819650"/>
            <a:ext cx="1076515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推理引擎不是“把模型跑起来”的工具，而是把 kernel、缓存、调度、协议和评测串起来的系统层。</a:t>
            </a:r>
            <a:endParaRPr sz="1875" b="0">
              <a:solidFill>
                <a:srgbClr val="000000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6585" y="5661660"/>
            <a:ext cx="78740" cy="389255"/>
          </a:xfrm>
          <a:prstGeom prst="roundRect">
            <a:avLst>
              <a:gd name="adj" fmla="val 48111"/>
            </a:avLst>
          </a:prstGeom>
          <a:solidFill>
            <a:srgbClr val="041C3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文本框 25"/>
          <p:cNvSpPr>
            <a:spLocks noGrp="1"/>
          </p:cNvSpPr>
          <p:nvPr/>
        </p:nvSpPr>
        <p:spPr>
          <a:xfrm>
            <a:off x="767715" y="5661660"/>
            <a:ext cx="101561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</a:rPr>
              <a:t>runtime（推理运行时）：模型线上执行时的调度、缓存、解析、硬件优化与服务协议层</a:t>
            </a: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5" name="直接连接符 24"/>
          <p:cNvCxnSpPr>
            <a:stCxn id="6" idx="2"/>
            <a:endCxn id="22" idx="0"/>
          </p:cNvCxnSpPr>
          <p:nvPr/>
        </p:nvCxnSpPr>
        <p:spPr>
          <a:xfrm>
            <a:off x="5235575" y="2209800"/>
            <a:ext cx="0" cy="2873375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Stack Map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21385" y="781050"/>
            <a:ext cx="947991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调研的对象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047750" y="1676400"/>
            <a:ext cx="8375650" cy="533400"/>
          </a:xfrm>
          <a:prstGeom prst="roundRect">
            <a:avLst/>
          </a:prstGeom>
          <a:solidFill>
            <a:srgbClr val="FF6B35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14450" y="1746885"/>
            <a:ext cx="2000250" cy="291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用户请求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60545" y="1756410"/>
            <a:ext cx="441325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OpenAI-compatible API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47750" y="2510155"/>
            <a:ext cx="8375650" cy="533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2590165"/>
            <a:ext cx="200025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模板与协议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60545" y="2590800"/>
            <a:ext cx="4413250" cy="281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chat template / tools / reasoning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47750" y="3343910"/>
            <a:ext cx="8375650" cy="533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14450" y="3411855"/>
            <a:ext cx="2000250" cy="2940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调度与缓存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60545" y="3411220"/>
            <a:ext cx="4413250" cy="294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continuous batching / KV Cache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47750" y="4248785"/>
            <a:ext cx="8375650" cy="534035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314450" y="4328160"/>
            <a:ext cx="2000250" cy="340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GPU 执行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60545" y="4329430"/>
            <a:ext cx="441325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prefill / decode / attention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47750" y="5083175"/>
            <a:ext cx="8375650" cy="5334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14450" y="5216525"/>
            <a:ext cx="2000250" cy="323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800" b="1">
                <a:solidFill>
                  <a:schemeClr val="bg1"/>
                </a:solidFill>
              </a:rPr>
              <a:t>输出与</a:t>
            </a:r>
            <a:r>
              <a:rPr lang="zh-CN" sz="1800" b="1">
                <a:solidFill>
                  <a:schemeClr val="bg1"/>
                </a:solidFill>
              </a:rPr>
              <a:t>返回</a:t>
            </a:r>
            <a:endParaRPr lang="zh-CN" sz="1800" b="1">
              <a:solidFill>
                <a:schemeClr val="bg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360545" y="5217160"/>
            <a:ext cx="4413250" cy="322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streaming / </a:t>
            </a:r>
            <a:r>
              <a:rPr lang="en-US" sz="1600" b="0">
                <a:solidFill>
                  <a:schemeClr val="bg1"/>
                </a:solidFill>
              </a:rPr>
              <a:t>tool result</a:t>
            </a:r>
            <a:r>
              <a:rPr sz="1600" b="0">
                <a:solidFill>
                  <a:schemeClr val="bg1"/>
                </a:solidFill>
              </a:rPr>
              <a:t> / </a:t>
            </a:r>
            <a:r>
              <a:rPr lang="en-US" sz="1600" b="0">
                <a:solidFill>
                  <a:schemeClr val="bg1"/>
                </a:solidFill>
              </a:rPr>
              <a:t>final </a:t>
            </a:r>
            <a:r>
              <a:rPr lang="en-US" sz="1600" b="0">
                <a:solidFill>
                  <a:schemeClr val="bg1"/>
                </a:solidFill>
              </a:rPr>
              <a:t>response</a:t>
            </a:r>
            <a:endParaRPr lang="en-US" sz="1600" b="0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835515" y="1688465"/>
            <a:ext cx="76200" cy="3923665"/>
          </a:xfrm>
          <a:prstGeom prst="roundRect">
            <a:avLst>
              <a:gd name="adj" fmla="val 48111"/>
            </a:avLst>
          </a:prstGeom>
          <a:solidFill>
            <a:srgbClr val="E1E4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文本框 16"/>
          <p:cNvSpPr txBox="1"/>
          <p:nvPr/>
        </p:nvSpPr>
        <p:spPr>
          <a:xfrm>
            <a:off x="10128250" y="1721485"/>
            <a:ext cx="456565" cy="1322070"/>
          </a:xfrm>
          <a:prstGeom prst="rect">
            <a:avLst/>
          </a:prstGeom>
        </p:spPr>
        <p:txBody>
          <a:bodyPr vert="horz" wrap="square">
            <a:spAutoFit/>
          </a:bodyPr>
          <a:p>
            <a:r>
              <a:rPr lang="zh-CN" altLang="en-US" sz="1600"/>
              <a:t>外部观测层</a:t>
            </a:r>
            <a:endParaRPr lang="zh-CN" altLang="en-US" sz="1600"/>
          </a:p>
        </p:txBody>
      </p:sp>
      <p:sp>
        <p:nvSpPr>
          <p:cNvPr id="21" name="文本框 20"/>
          <p:cNvSpPr txBox="1"/>
          <p:nvPr/>
        </p:nvSpPr>
        <p:spPr>
          <a:xfrm>
            <a:off x="10090150" y="3213100"/>
            <a:ext cx="454660" cy="2453640"/>
          </a:xfrm>
          <a:prstGeom prst="rect">
            <a:avLst/>
          </a:prstGeom>
          <a:noFill/>
        </p:spPr>
        <p:txBody>
          <a:bodyPr vert="vert" wrap="square" rtlCol="0">
            <a:noAutofit/>
          </a:bodyPr>
          <a:p>
            <a:r>
              <a:rPr lang="en-US" altLang="zh-CN"/>
              <a:t>benchmark / eval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Four Reports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29590" y="781050"/>
            <a:ext cx="987171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从模型服务到评测体系的闭环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66750" y="1657350"/>
            <a:ext cx="723900" cy="590550"/>
          </a:xfrm>
          <a:prstGeom prst="round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743075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57350" y="16954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主流推理引擎对比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20574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 serving 基座：vLLM、SGLang、TensorRT-LLM、lmdeploy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2643505"/>
            <a:ext cx="723900" cy="590550"/>
          </a:xfrm>
          <a:prstGeom prst="round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729230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57350" y="268160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KV Cache 优化技术栈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57350" y="3043555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解释延迟、吞吐和显存瓶颈背后的核心状态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" y="3629660"/>
            <a:ext cx="723900" cy="590550"/>
          </a:xfrm>
          <a:prstGeom prst="round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3715385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66776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工具调用与思考解析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57350" y="402971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把推理引擎扩展成 Agent runtime 的一部分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4615815"/>
            <a:ext cx="723900" cy="59055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4701540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chemeClr val="bg1"/>
                </a:solidFill>
              </a:rPr>
              <a:t>4</a:t>
            </a:r>
            <a:endParaRPr sz="2550" b="1">
              <a:solidFill>
                <a:schemeClr val="bg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657350" y="465391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评测工具链与长上下文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5015865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用能力评测和性能 benchmark 形成反馈闭环</a:t>
            </a:r>
            <a:endParaRPr sz="1425" b="0">
              <a:solidFill>
                <a:srgbClr val="555555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5201920"/>
            <a:ext cx="4330065" cy="925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Serving Engines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00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推理引擎的差异，本质上是 runtime 设计取舍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695450"/>
            <a:ext cx="10477500" cy="590550"/>
          </a:xfrm>
          <a:prstGeom prst="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17907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600" b="0">
                <a:solidFill>
                  <a:schemeClr val="bg1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引擎</a:t>
            </a:r>
            <a:endParaRPr sz="1600" b="0">
              <a:solidFill>
                <a:schemeClr val="bg1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65195" y="17907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600" b="0">
                <a:solidFill>
                  <a:schemeClr val="bg1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核心设计</a:t>
            </a:r>
            <a:endParaRPr sz="1600" b="0">
              <a:solidFill>
                <a:schemeClr val="bg1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747000" y="17907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600" b="0">
                <a:solidFill>
                  <a:schemeClr val="bg1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更适合的场景</a:t>
            </a:r>
            <a:endParaRPr sz="1600" b="0">
              <a:solidFill>
                <a:schemeClr val="bg1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286000"/>
            <a:ext cx="1047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3812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vLLM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65195" y="23812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PagedAttention + OpenAI serving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747000" y="23812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通用高吞吐 API 服务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2876550"/>
            <a:ext cx="1047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9718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SGLang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65195" y="2971800"/>
            <a:ext cx="381127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RadixAttention + LM program runtime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47000" y="29718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共享前缀、多调用、结构化生成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3467100"/>
            <a:ext cx="1047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35623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TensorRT-LLM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65195" y="35623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NVIDIA kernel 与图优化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747000" y="356235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极致性能与生产部署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4057650"/>
            <a:ext cx="1047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41529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lmdeploy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65195" y="41529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多模型与多协议工程适配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747000" y="4152900"/>
            <a:ext cx="330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国产/开源模型快速落地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4850" y="54102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这部分回答：我们该把模型部署在哪一种 runtime 上，以及 benchmark 数字应该放回什么架构背景里解释。</a:t>
            </a:r>
            <a:endParaRPr sz="1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Benchmark Evidence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126553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同一模型同一矩阵下，</a:t>
            </a:r>
            <a:r>
              <a:rPr lang="en-US" sz="3450" b="1">
                <a:solidFill>
                  <a:srgbClr val="000000"/>
                </a:solidFill>
              </a:rPr>
              <a:t>vLLM </a:t>
            </a:r>
            <a:r>
              <a:rPr lang="zh-CN" altLang="en-US" sz="3450" b="1">
                <a:solidFill>
                  <a:srgbClr val="000000"/>
                </a:solidFill>
              </a:rPr>
              <a:t>和</a:t>
            </a:r>
            <a:r>
              <a:rPr lang="en-US" altLang="zh-CN" sz="3450" b="1">
                <a:solidFill>
                  <a:srgbClr val="000000"/>
                </a:solidFill>
              </a:rPr>
              <a:t> </a:t>
            </a:r>
            <a:r>
              <a:rPr sz="3450" b="1">
                <a:solidFill>
                  <a:srgbClr val="000000"/>
                </a:solidFill>
              </a:rPr>
              <a:t>SGLang </a:t>
            </a:r>
            <a:r>
              <a:rPr lang="zh-CN" sz="3450" b="1">
                <a:solidFill>
                  <a:srgbClr val="000000"/>
                </a:solidFill>
              </a:rPr>
              <a:t>的</a:t>
            </a:r>
            <a:r>
              <a:rPr lang="zh-CN" sz="3450" b="1">
                <a:solidFill>
                  <a:srgbClr val="000000"/>
                </a:solidFill>
              </a:rPr>
              <a:t>对比</a:t>
            </a:r>
            <a:endParaRPr lang="zh-CN"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28650" y="1695450"/>
            <a:ext cx="2000250" cy="12573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866900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4.30</a:t>
            </a:r>
            <a:endParaRPr sz="300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362200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平均 req/s</a:t>
            </a:r>
            <a:endParaRPr sz="12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6098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chemeClr val="bg1"/>
                </a:solidFill>
              </a:rPr>
              <a:t>SGLang</a:t>
            </a:r>
            <a:endParaRPr sz="975" b="0">
              <a:solidFill>
                <a:schemeClr val="bg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19400" y="1695450"/>
            <a:ext cx="2000250" cy="1257300"/>
          </a:xfrm>
          <a:prstGeom prst="roundRect">
            <a:avLst/>
          </a:prstGeom>
          <a:solidFill>
            <a:srgbClr val="F6F6F6"/>
          </a:solidFill>
          <a:ln w="9525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990850" y="1866900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3.17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90850" y="2362200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chemeClr val="tx1"/>
                </a:solidFill>
              </a:rPr>
              <a:t>平均 req/s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90850" y="26098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chemeClr val="tx1"/>
                </a:solidFill>
              </a:rPr>
              <a:t>vLLM</a:t>
            </a:r>
            <a:endParaRPr sz="975" b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010150" y="1695450"/>
            <a:ext cx="2286000" cy="1257300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81600" y="1866900"/>
            <a:ext cx="194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27.61 ms</a:t>
            </a:r>
            <a:endParaRPr sz="3000" b="1">
              <a:solidFill>
                <a:srgbClr val="FF6B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81600" y="23622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平均 TPOT</a:t>
            </a:r>
            <a:endParaRPr sz="1200" b="1">
              <a:solidFill>
                <a:schemeClr val="bg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81600" y="2609850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chemeClr val="bg1"/>
                </a:solidFill>
              </a:rPr>
              <a:t>SGLang</a:t>
            </a:r>
            <a:endParaRPr sz="975" b="0">
              <a:solidFill>
                <a:schemeClr val="bg1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486650" y="1695450"/>
            <a:ext cx="2286000" cy="1257300"/>
          </a:xfrm>
          <a:prstGeom prst="roundRect">
            <a:avLst/>
          </a:prstGeom>
          <a:solidFill>
            <a:srgbClr val="F6F6F6"/>
          </a:solidFill>
          <a:ln w="9525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58100" y="1866900"/>
            <a:ext cx="194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39.41 ms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58100" y="23622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平均 TPOT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2609850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vLLM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963150" y="1695450"/>
            <a:ext cx="1524000" cy="1257300"/>
          </a:xfrm>
          <a:prstGeom prst="roundRect">
            <a:avLst/>
          </a:prstGeom>
          <a:solidFill>
            <a:srgbClr val="F6F6F6"/>
          </a:solidFill>
          <a:ln w="9525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134600" y="1866900"/>
            <a:ext cx="118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0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134600" y="236220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失败请求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134600" y="2609850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两边各 1860 请求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28900" y="35433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SGLang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33975" y="35433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F6B35"/>
                </a:solidFill>
              </a:defRPr>
            </a:pPr>
            <a:r>
              <a:rPr sz="1600" b="1">
                <a:solidFill>
                  <a:srgbClr val="FF6B35"/>
                </a:solidFill>
              </a:rPr>
              <a:t>vLLM</a:t>
            </a:r>
            <a:endParaRPr sz="1600" b="1">
              <a:solidFill>
                <a:srgbClr val="FF6B3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3789045"/>
            <a:ext cx="1600200" cy="327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req/s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28900" y="3886200"/>
            <a:ext cx="35496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33975" y="3886200"/>
            <a:ext cx="26168" cy="190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740660" y="38576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4.3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36210" y="3876040"/>
            <a:ext cx="762000" cy="191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3.17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14400" y="4148455"/>
            <a:ext cx="1600200" cy="326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output tok/s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628900" y="4243388"/>
            <a:ext cx="1121029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133975" y="4243388"/>
            <a:ext cx="841185" cy="190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826129" y="4252913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135.8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51359" y="4252913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101.9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4400" y="4508500"/>
            <a:ext cx="1600200" cy="327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TTFT ms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628900" y="4610100"/>
            <a:ext cx="1882140" cy="18224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133975" y="4600575"/>
            <a:ext cx="2852928" cy="190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510405" y="4580890"/>
            <a:ext cx="528320" cy="172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266.3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063103" y="46101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345.6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14400" y="4883150"/>
            <a:ext cx="1600200" cy="340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TPOT ms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628900" y="4957763"/>
            <a:ext cx="227838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133975" y="4957763"/>
            <a:ext cx="325247" cy="190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932938" y="4967288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27.6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535422" y="4967288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1000" b="0">
                <a:solidFill>
                  <a:srgbClr val="555555"/>
                </a:solidFill>
              </a:rPr>
              <a:t>39.4</a:t>
            </a:r>
            <a:endParaRPr sz="1000" b="0">
              <a:solidFill>
                <a:srgbClr val="555555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14400" y="5638800"/>
            <a:ext cx="838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数据来源：Qwen/Qwen3.5-4B，OpenAI Chat API，identical prompt，120 case / 3720 请求，thinking disabled。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Workload Matters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6435" y="781050"/>
            <a:ext cx="1039114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这个性能结论成立，是因为 workload 与机制匹配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910715"/>
            <a:ext cx="4953000" cy="3143250"/>
          </a:xfrm>
          <a:prstGeom prst="roundRect">
            <a:avLst>
              <a:gd name="adj" fmla="val 9313"/>
            </a:avLst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063115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本轮 workload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82511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98880" y="2673985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所有请求共享相同 prompt 模板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334835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98880" y="3208655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prompt length 覆盖 128 到 8192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87159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8880" y="3743325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thinking disabled，未构造真实 tool call case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39483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98880" y="4277995"/>
            <a:ext cx="415099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22222"/>
                </a:solidFill>
              </a:defRPr>
            </a:pPr>
            <a:r>
              <a:rPr sz="1600" b="0">
                <a:solidFill>
                  <a:srgbClr val="222222"/>
                </a:solidFill>
              </a:rPr>
              <a:t>更像 agent/tool-use 的长工具说明与共享 prefix 压力</a:t>
            </a:r>
            <a:endParaRPr sz="1600" b="0">
              <a:solidFill>
                <a:srgbClr val="222222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09690" y="1910715"/>
            <a:ext cx="4953000" cy="3143250"/>
          </a:xfrm>
          <a:prstGeom prst="roundRect">
            <a:avLst>
              <a:gd name="adj" fmla="val 8787"/>
            </a:avLst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14490" y="2108835"/>
            <a:ext cx="114300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解释</a:t>
            </a:r>
            <a:endParaRPr sz="2000" b="1">
              <a:solidFill>
                <a:schemeClr val="bg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14490" y="2767965"/>
            <a:ext cx="427926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1800" b="0">
                <a:solidFill>
                  <a:srgbClr val="FF6B35"/>
                </a:solidFill>
              </a:rPr>
              <a:t>SGLang 的 RadixAttention 更容易复用相同前缀，降低重复 prefill，因此在 identical prompt 下表现更好。</a:t>
            </a:r>
            <a:endParaRPr sz="1800" b="0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14490" y="4158615"/>
            <a:ext cx="425513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所以这组数据证明 serving 路径稳定，但不能替代工具调用准确率专项评测。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7715" y="5391785"/>
            <a:ext cx="10821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测评矩阵：</a:t>
            </a:r>
            <a:r>
              <a:rPr lang="en-US" altLang="zh-CN"/>
              <a:t>2 engines x 1 prompt scenario: identical x 5 batch sizes: 1, 2, 4, 8, 16 x 4 prompt lengths: 128, 512, 2048, 8192 x 3 generation caps: 64, 256, 512 = 120 benchmark cases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GuideLLM Synthetic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11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随机 synthetic 压测下，vLLM 的通用 serving 路径更占优</a:t>
            </a:r>
            <a:endParaRPr sz="3000" b="1">
              <a:solidFill>
                <a:srgbClr val="11111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809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0002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2.52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平均 req/s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6289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vLLM；SGLang 2.14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45510" y="1809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75685" y="19812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432.1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75685" y="2362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output tok/s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75685" y="26098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vLLM；SGLang 372.0</a:t>
            </a:r>
            <a:endParaRPr sz="975" b="0">
              <a:solidFill>
                <a:srgbClr val="5F636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29020" y="1809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40145" y="1962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311 ms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0145" y="2343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TTFT p50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40145" y="2590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vLLM；SGLang 455 ms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812530" y="1809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04605" y="19812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15.28 ms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04605" y="2362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TPOT p50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04605" y="26098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vLLM；SGLang 16.92 ms</a:t>
            </a:r>
            <a:endParaRPr sz="975" b="0">
              <a:solidFill>
                <a:srgbClr val="5F636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3429000"/>
            <a:ext cx="10031730" cy="400050"/>
          </a:xfrm>
          <a:prstGeom prst="rect">
            <a:avLst/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35052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维度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710815" y="3505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SGLang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45330" y="3505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vLLM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95110" y="3505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S/V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67800" y="348488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含义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76300" y="3829050"/>
            <a:ext cx="9620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71550" y="39052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req/s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710815" y="3905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2.14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45330" y="3905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2.52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95110" y="3905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0.85x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67800" y="38849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请求吞吐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876300" y="4229100"/>
            <a:ext cx="1003173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71550" y="43053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out tok/s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710815" y="43053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372.0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45330" y="43053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432.1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95110" y="43053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0.86x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067800" y="428498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输出吞吐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876300" y="4629150"/>
            <a:ext cx="1003173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71550" y="4705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TTFT p50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0815" y="4705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455.1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545330" y="4705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311.0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595110" y="4705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1.46x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067800" y="468503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首 token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876300" y="5029200"/>
            <a:ext cx="1003173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71550" y="51054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E2E p50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710815" y="51054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3827.1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545330" y="51054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3398.9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595110" y="51054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1.13x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067800" y="508508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端到端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14400" y="5562600"/>
            <a:ext cx="10031730" cy="515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这组结果更接近“低 prefix overlap + 较长 decode”的通用服务流量；</a:t>
            </a:r>
            <a:endParaRPr sz="1350" b="0">
              <a:solidFill>
                <a:srgbClr val="5F6368"/>
              </a:solidFill>
            </a:endParaRPr>
          </a:p>
          <a:p>
            <a:pPr algn="ctr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它不能替代共享 prefix 场景，但能说明 vLLM 的 PagedAttention / continuous batching 在随机请求下更容易发挥。</a:t>
            </a:r>
            <a:endParaRPr sz="1350" b="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Benchmark Deep Dive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新 benchmark 没有推翻旧结论，而是暴露 workload 边界</a:t>
            </a:r>
            <a:endParaRPr sz="3000" b="1">
              <a:solidFill>
                <a:srgbClr val="11111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80975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9525">
            <a:solidFill>
              <a:srgbClr val="E1E4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019300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935"/>
                </a:solidFill>
              </a:defRPr>
            </a:pPr>
            <a:r>
              <a:rPr sz="1650" b="1">
                <a:solidFill>
                  <a:schemeClr val="tx1"/>
                </a:solidFill>
              </a:rPr>
              <a:t>第一次测试：共享 prefix + 短输出</a:t>
            </a:r>
            <a:endParaRPr sz="165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438400"/>
            <a:ext cx="43053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600" b="0">
                <a:solidFill>
                  <a:schemeClr val="tx1"/>
                </a:solidFill>
              </a:rPr>
              <a:t>legacy runner；prompt 内容真正 identical；实际输出均值约 32 token。</a:t>
            </a:r>
            <a:endParaRPr sz="1600" b="0">
              <a:solidFill>
                <a:schemeClr val="tx1"/>
              </a:solidFill>
            </a:endParaRPr>
          </a:p>
          <a:p>
            <a:endParaRPr sz="1600">
              <a:solidFill>
                <a:schemeClr val="tx1"/>
              </a:solidFill>
            </a:endParaRPr>
          </a:p>
          <a:p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600" b="0">
                <a:solidFill>
                  <a:schemeClr val="tx1"/>
                </a:solidFill>
              </a:rPr>
              <a:t>结果：SGLang req/s 4.30，vLLM 3.17；SGLang TPOT 27.61 ms，vLLM 39.41 ms。</a:t>
            </a:r>
            <a:endParaRPr sz="1600" b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743700" y="180975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00545" y="2019300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补充测试：GuideLLM synthetic + 长输出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00545" y="2438400"/>
            <a:ext cx="4538345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F6368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Matrix Runner；CUDA graph 与 prefix cache 对齐；prompt 随机、低 prefix overlap；输出基本达到 64/256/512。</a:t>
            </a:r>
            <a:endParaRPr sz="1600" b="0">
              <a:solidFill>
                <a:schemeClr val="bg1"/>
              </a:solidFill>
            </a:endParaRPr>
          </a:p>
          <a:p>
            <a:endParaRPr sz="1600">
              <a:solidFill>
                <a:schemeClr val="bg1"/>
              </a:solidFill>
            </a:endParaRPr>
          </a:p>
          <a:p>
            <a:pPr algn="l">
              <a:buNone/>
              <a:defRPr sz="1275" b="0">
                <a:solidFill>
                  <a:srgbClr val="5F6368"/>
                </a:solidFill>
              </a:defRPr>
            </a:pPr>
            <a:r>
              <a:rPr sz="1600" b="0">
                <a:solidFill>
                  <a:schemeClr val="bg1"/>
                </a:solidFill>
              </a:rPr>
              <a:t>结果：vLLM req/s 2.52，SGLang 2.14；vLLM TPOT p50 15.28 ms，SGLang 16.92 ms。</a:t>
            </a:r>
            <a:endParaRPr sz="1600" b="0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8200" y="4762500"/>
            <a:ext cx="10515600" cy="749300"/>
          </a:xfrm>
          <a:prstGeom prst="roundRect">
            <a:avLst>
              <a:gd name="adj" fmla="val 11429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28700" y="4895850"/>
            <a:ext cx="9791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SGLang 的优势依赖可复用程序结构；vLLM 的优势更偏随机请求流和 decode-heavy serving。</a:t>
            </a:r>
            <a:endParaRPr sz="1500" b="0">
              <a:solidFill>
                <a:srgbClr val="FFFFFF"/>
              </a:solidFill>
            </a:endParaRPr>
          </a:p>
          <a:p>
            <a:pPr algn="ctr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benchmark 先定义 workload，才谈引擎强弱。</a:t>
            </a:r>
            <a:endParaRPr sz="1500" b="0">
              <a:solidFill>
                <a:srgbClr val="FFFFFF"/>
              </a:solidFill>
            </a:endParaRPr>
          </a:p>
        </p:txBody>
      </p:sp>
      <p:cxnSp>
        <p:nvCxnSpPr>
          <p:cNvPr id="36" name="直接连接符 24"/>
          <p:cNvCxnSpPr>
            <a:stCxn id="6" idx="3"/>
            <a:endCxn id="9" idx="1"/>
          </p:cNvCxnSpPr>
          <p:nvPr/>
        </p:nvCxnSpPr>
        <p:spPr>
          <a:xfrm>
            <a:off x="5448300" y="3000375"/>
            <a:ext cx="1295400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 Cache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1400" b="0">
                <a:solidFill>
                  <a:srgbClr val="555555"/>
                </a:solidFill>
              </a:rPr>
              <a:t>12</a:t>
            </a:r>
            <a:endParaRPr sz="14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81050"/>
            <a:ext cx="971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KV Cache 是在线推理最关键的动态资源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657350"/>
            <a:ext cx="10287000" cy="800100"/>
          </a:xfrm>
          <a:prstGeom prst="round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84785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KV_bytes ∝ layers × hidden_size × sequence_length × batch_size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31240" y="2904490"/>
            <a:ext cx="3990975" cy="114046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54735" y="3218815"/>
            <a:ext cx="1462405" cy="584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动态增长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79015" y="3214370"/>
            <a:ext cx="263525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输入长度、输出长度和并发数共同决定容量</a:t>
            </a:r>
            <a:endParaRPr sz="1800" b="0">
              <a:solidFill>
                <a:srgbClr val="555555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513195" y="2921000"/>
            <a:ext cx="3990975" cy="114046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99555" y="3213735"/>
            <a:ext cx="1462405" cy="584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生命周期长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39735" y="3194685"/>
            <a:ext cx="241173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decode 每一步都要读取并追加历史 K/V</a:t>
            </a:r>
            <a:endParaRPr sz="1800" b="0">
              <a:solidFill>
                <a:srgbClr val="55555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31240" y="4523740"/>
            <a:ext cx="3990975" cy="114046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54735" y="4822190"/>
            <a:ext cx="1462405" cy="584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可共享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79015" y="4761865"/>
            <a:ext cx="263525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多轮对话、RAG、工具调用常共享长前缀</a:t>
            </a:r>
            <a:endParaRPr sz="1800" b="0">
              <a:solidFill>
                <a:srgbClr val="555555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513195" y="4540250"/>
            <a:ext cx="3990975" cy="114046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577330" y="4812030"/>
            <a:ext cx="1462405" cy="584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阶段差异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39735" y="4813935"/>
            <a:ext cx="241173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prefill 偏计算，decode 偏显存带宽</a:t>
            </a:r>
            <a:endParaRPr sz="18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 Techniques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13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0545" y="781050"/>
            <a:ext cx="985075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KV Cache 优化已经从单机内存管理走向集群编排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28650" y="1809750"/>
            <a:ext cx="2343150" cy="2857500"/>
          </a:xfrm>
          <a:prstGeom prst="roundRect">
            <a:avLst>
              <a:gd name="adj" fmla="val 10704"/>
            </a:avLst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PagedAttention</a:t>
            </a:r>
            <a:endParaRPr sz="1725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6860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KV blocks / block table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3543300"/>
            <a:ext cx="1885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减少碎片，扩大 effective batch</a:t>
            </a:r>
            <a:endParaRPr sz="1275" b="0">
              <a:solidFill>
                <a:srgbClr val="55555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09950" y="1809750"/>
            <a:ext cx="2343150" cy="2857500"/>
          </a:xfrm>
          <a:prstGeom prst="roundRect">
            <a:avLst>
              <a:gd name="adj" fmla="val 9620"/>
            </a:avLst>
          </a:prstGeom>
          <a:solidFill>
            <a:srgbClr val="F6F6F6"/>
          </a:solidFill>
          <a:ln w="9525">
            <a:solidFill>
              <a:srgbClr val="C6C9D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8140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RadixAttention</a:t>
            </a:r>
            <a:endParaRPr sz="1725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81400" y="26860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chemeClr val="tx1"/>
                </a:solidFill>
              </a:rPr>
              <a:t>prefix tree</a:t>
            </a:r>
            <a:endParaRPr sz="15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81400" y="3543300"/>
            <a:ext cx="1885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减少重复 prefill</a:t>
            </a:r>
            <a:endParaRPr sz="1275" b="0">
              <a:solidFill>
                <a:srgbClr val="55555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1250" y="1809750"/>
            <a:ext cx="2343150" cy="2857500"/>
          </a:xfrm>
          <a:prstGeom prst="roundRect">
            <a:avLst>
              <a:gd name="adj" fmla="val 8536"/>
            </a:avLst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6270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Splitwise</a:t>
            </a:r>
            <a:endParaRPr sz="1725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26860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prompt pool / token pool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3543300"/>
            <a:ext cx="1885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按阶段匹配硬件</a:t>
            </a:r>
            <a:endParaRPr sz="1275" b="0">
              <a:solidFill>
                <a:srgbClr val="55555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972550" y="1809750"/>
            <a:ext cx="2343150" cy="2857500"/>
          </a:xfrm>
          <a:prstGeom prst="roundRect">
            <a:avLst>
              <a:gd name="adj" fmla="val 7994"/>
            </a:avLst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14400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DistServe</a:t>
            </a:r>
            <a:endParaRPr sz="1725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26860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prefill / decode disaggregation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0" y="3543300"/>
            <a:ext cx="1885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按 TTFT / TPOT SLO 优化 goodput</a:t>
            </a:r>
            <a:endParaRPr sz="1275" b="0">
              <a:solidFill>
                <a:srgbClr val="55555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391150"/>
            <a:ext cx="9048750" cy="408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真正的系统设计难点，是把这些机制组合进同一个 KV 生命周期。</a:t>
            </a:r>
            <a:endParaRPr sz="18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Deployment Reality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14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9920" y="781050"/>
            <a:ext cx="1042225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大模型启动失败，常常不是权重问题，而是 KV 预算问题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733550"/>
            <a:ext cx="10096500" cy="666750"/>
          </a:xfrm>
          <a:prstGeom prst="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8288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模型</a:t>
            </a:r>
            <a:endParaRPr sz="135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84650" y="18288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原始问题</a:t>
            </a:r>
            <a:endParaRPr sz="135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550150" y="18288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已验证可行方向</a:t>
            </a:r>
            <a:endParaRPr sz="135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400300"/>
            <a:ext cx="10096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4955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Qwen2.5-14B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84650" y="24955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32768 上下文下 KV cache 不足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50150" y="24955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8192 或 16384，TP=1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3067050"/>
            <a:ext cx="10096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31623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QwQ-32B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84650" y="31623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TP=2 + 0.80 下无 cache blocks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550150" y="316230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8192，TP=2 或 TP=4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733800"/>
            <a:ext cx="10096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38290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GLM-4.5-Air-FP8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184650" y="38290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FP8 Marlin / worker 初始化失败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50150" y="3829050"/>
            <a:ext cx="317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先完成 clean startup smoke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23900" y="4667250"/>
            <a:ext cx="10096500" cy="978535"/>
          </a:xfrm>
          <a:prstGeom prst="roundRect">
            <a:avLst/>
          </a:prstGeom>
          <a:solidFill>
            <a:srgbClr val="041C32"/>
          </a:solidFill>
          <a:ln w="9525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4070" y="4838700"/>
            <a:ext cx="9962515" cy="680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chemeClr val="bg1"/>
                </a:solidFill>
              </a:rPr>
              <a:t>功能支持和可评测性必须分开看：parser 层支持工具调用，不代表当前硬件和 runtime 组合已经能稳定跑完整 benchmark。</a:t>
            </a:r>
            <a:endParaRPr sz="165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KV Cache Benchmark</a:t>
            </a:r>
            <a:r>
              <a:rPr lang="en-US" sz="975" b="1">
                <a:solidFill>
                  <a:srgbClr val="5F6368"/>
                </a:solidFill>
              </a:rPr>
              <a:t> in </a:t>
            </a:r>
            <a:r>
              <a:rPr lang="en-US" sz="975" b="1">
                <a:solidFill>
                  <a:srgbClr val="5F6368"/>
                </a:solidFill>
              </a:rPr>
              <a:t>vLLM</a:t>
            </a:r>
            <a:endParaRPr lang="en-US"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15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165" y="781050"/>
            <a:ext cx="103828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11111"/>
                </a:solidFill>
              </a:defRPr>
            </a:pPr>
            <a:r>
              <a:rPr sz="2800" b="1">
                <a:solidFill>
                  <a:srgbClr val="111111"/>
                </a:solidFill>
              </a:rPr>
              <a:t>Prefix caching 的收益有阈值，长共享前缀才</a:t>
            </a:r>
            <a:r>
              <a:rPr sz="2800" b="1">
                <a:solidFill>
                  <a:srgbClr val="111111"/>
                </a:solidFill>
              </a:rPr>
              <a:t>有收入</a:t>
            </a:r>
            <a:endParaRPr sz="2800" b="1">
              <a:solidFill>
                <a:srgbClr val="11111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16954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8859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+14.8%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平均 p50 TTFT 改善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514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30 组 paired case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562350" y="16954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752850" y="18859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+24.6%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52850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平均吞吐提升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52850" y="2514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同总输入 8192 tokens</a:t>
            </a:r>
            <a:endParaRPr sz="975" b="0">
              <a:solidFill>
                <a:srgbClr val="5F636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24600" y="16954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15100" y="18859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+88.6%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15100" y="2266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最佳单点吞吐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15100" y="2514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shared=5120, conc=16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086850" y="16954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77350" y="18859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-7.0%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77350" y="2266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短前缀反噬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77350" y="2514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shared=1024, conc=16</a:t>
            </a:r>
            <a:endParaRPr sz="975" b="0">
              <a:solidFill>
                <a:srgbClr val="5F636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3276600"/>
            <a:ext cx="10001250" cy="381000"/>
          </a:xfrm>
          <a:prstGeom prst="rect">
            <a:avLst/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38250" y="3352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共享前缀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238500" y="3352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p50 TTFT 变化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0" y="3352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吞吐变化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0" y="3352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机制解释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143000" y="3657600"/>
            <a:ext cx="10001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3733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1024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238500" y="3733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-6.9%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24500" y="3733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-4.9%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10500" y="3733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缓存管理开销超过复用收益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143000" y="4038600"/>
            <a:ext cx="10001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38250" y="4114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2048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238500" y="4114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+5.1%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0" y="4114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+7.5%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0" y="4114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收益开始转正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143000" y="4419600"/>
            <a:ext cx="10001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38250" y="4495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4096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2385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+17.6%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+26.8%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0" y="4495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长 prefix 复用稳定有效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143000" y="4800600"/>
            <a:ext cx="10001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238250" y="4876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5120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238500" y="4876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+32.4%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524500" y="4876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+55.5%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810500" y="4876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高共享占比显著减少 prefill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1143000" y="5181600"/>
            <a:ext cx="100012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238250" y="5257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6144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238500" y="5257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+33.4%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524500" y="5257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F6935"/>
                </a:solidFill>
              </a:defRPr>
            </a:pPr>
            <a:r>
              <a:rPr sz="1050" b="0">
                <a:solidFill>
                  <a:srgbClr val="FF6935"/>
                </a:solidFill>
              </a:rPr>
              <a:t>+55.0%</a:t>
            </a:r>
            <a:endParaRPr sz="1050" b="0">
              <a:solidFill>
                <a:srgbClr val="FF6935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810500" y="5257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收益保持高位</a:t>
            </a:r>
            <a:endParaRPr sz="1050" b="0">
              <a:solidFill>
                <a:srgbClr val="111111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28700" y="5638800"/>
            <a:ext cx="971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结论不是“prefix caching 永远开就好”，而是要看共享前缀占比和命中率。短前缀时查找、管理和调度开销会吃掉收益；4096 tokens 以上收益变得更稳定。</a:t>
            </a:r>
            <a:endParaRPr sz="1350" b="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KV Cache Benchmark</a:t>
            </a:r>
            <a:r>
              <a:rPr lang="en-US" sz="975" b="1">
                <a:solidFill>
                  <a:srgbClr val="5F6368"/>
                </a:solidFill>
              </a:rPr>
              <a:t> in </a:t>
            </a:r>
            <a:r>
              <a:rPr lang="en-US" sz="975" b="1">
                <a:solidFill>
                  <a:srgbClr val="5F6368"/>
                </a:solidFill>
              </a:rPr>
              <a:t>vLLM</a:t>
            </a:r>
            <a:endParaRPr lang="en-US"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16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1180" y="781050"/>
            <a:ext cx="1051687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11111"/>
                </a:solidFill>
              </a:defRPr>
            </a:pPr>
            <a:r>
              <a:rPr sz="2800" b="1">
                <a:solidFill>
                  <a:srgbClr val="111111"/>
                </a:solidFill>
              </a:rPr>
              <a:t>Chunked prefill 更像 TTFT / fairness 优化，不是无条件提吞吐</a:t>
            </a:r>
            <a:endParaRPr sz="2800" b="1">
              <a:solidFill>
                <a:srgbClr val="11111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2500" y="169545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1885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+2.8%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66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平均 p50 TTFT 改善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25146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12 组 paired case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640580" y="169545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99965" y="1885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-8.5%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99965" y="2266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平均吞吐变化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99965" y="25146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切分 prefill 有调度成本</a:t>
            </a:r>
            <a:endParaRPr sz="975" b="0">
              <a:solidFill>
                <a:srgbClr val="5F636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28660" y="169545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72170" y="186436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FF6935"/>
                </a:solidFill>
              </a:defRPr>
            </a:pPr>
            <a:r>
              <a:rPr sz="2250" b="1">
                <a:solidFill>
                  <a:srgbClr val="FF6935"/>
                </a:solidFill>
              </a:rPr>
              <a:t>+29.9%</a:t>
            </a:r>
            <a:endParaRPr sz="2250" b="1">
              <a:solidFill>
                <a:srgbClr val="FF69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2170" y="224536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高并发 TTFT 改善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72170" y="249301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D6DDE4"/>
                </a:solidFill>
              </a:defRPr>
            </a:pPr>
            <a:r>
              <a:rPr sz="975" b="0">
                <a:solidFill>
                  <a:srgbClr val="D6DDE4"/>
                </a:solidFill>
              </a:rPr>
              <a:t>concurrency=8</a:t>
            </a:r>
            <a:endParaRPr sz="975" b="0">
              <a:solidFill>
                <a:srgbClr val="D6DDE4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3133090"/>
            <a:ext cx="10572750" cy="400050"/>
          </a:xfrm>
          <a:prstGeom prst="rect">
            <a:avLst/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3450" y="320929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维度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57450" y="32092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p50 TTFT 变化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57700" y="32092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吞吐变化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320929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适合解读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34450" y="320929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风险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838200" y="3533140"/>
            <a:ext cx="10572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3450" y="360934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prompt 8192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57450" y="36093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FF6935"/>
                </a:solidFill>
              </a:defRPr>
            </a:pPr>
            <a:r>
              <a:rPr sz="1200" b="0">
                <a:solidFill>
                  <a:srgbClr val="FF6935"/>
                </a:solidFill>
              </a:rPr>
              <a:t>+6.7%</a:t>
            </a:r>
            <a:endParaRPr sz="1200" b="0">
              <a:solidFill>
                <a:srgbClr val="FF693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57700" y="36093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-6.3%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57950" y="360934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轻度改善首 token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34450" y="360934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吞吐下降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838200" y="3933190"/>
            <a:ext cx="10572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400939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prompt 16384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457450" y="40093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FF6935"/>
                </a:solidFill>
              </a:defRPr>
            </a:pPr>
            <a:r>
              <a:rPr sz="1200" b="0">
                <a:solidFill>
                  <a:srgbClr val="FF6935"/>
                </a:solidFill>
              </a:rPr>
              <a:t>+7.5%</a:t>
            </a:r>
            <a:endParaRPr sz="1200" b="0">
              <a:solidFill>
                <a:srgbClr val="FF693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57700" y="40093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-10.2%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57950" y="400939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长 prompt 排队缓解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34450" y="400939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切块成本上升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838200" y="4333240"/>
            <a:ext cx="10572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3450" y="440944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prompt 24576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457450" y="44094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-5.7%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57700" y="44094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-9.1%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57950" y="440944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本轮未改善 TTFT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934450" y="440944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可能受配置/样本影响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38200" y="4733290"/>
            <a:ext cx="10572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33450" y="480949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conc 1/2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457450" y="48094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-15.9% / -17.2%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457700" y="480949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下降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457950" y="480949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低并发不划算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34450" y="480949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额外调度开销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38200" y="5133340"/>
            <a:ext cx="10572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33450" y="520954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conc 4/8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457450" y="52095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FF6935"/>
                </a:solidFill>
              </a:defRPr>
            </a:pPr>
            <a:r>
              <a:rPr sz="1200" b="0">
                <a:solidFill>
                  <a:srgbClr val="FF6935"/>
                </a:solidFill>
              </a:rPr>
              <a:t>+14.5% / +29.9%</a:t>
            </a:r>
            <a:endParaRPr sz="1200" b="0">
              <a:solidFill>
                <a:srgbClr val="FF6935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457700" y="520954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下降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457950" y="520954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高并发更有价值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934450" y="520954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吞吐换延迟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28700" y="5661025"/>
            <a:ext cx="104952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它的核心价值是避免一个超长 prefill 长时间占住调度循环，让其他请求更快拿到首 token；代价是吞吐可能下降。因此要用 TTFT、TPOT、吞吐一起看。</a:t>
            </a:r>
            <a:endParaRPr sz="1350" b="0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2" name="直接连接符 31"/>
          <p:cNvCxnSpPr>
            <a:endCxn id="22" idx="1"/>
          </p:cNvCxnSpPr>
          <p:nvPr/>
        </p:nvCxnSpPr>
        <p:spPr>
          <a:xfrm>
            <a:off x="2609850" y="2438400"/>
            <a:ext cx="6705600" cy="0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Tool Calling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17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66725" y="781050"/>
            <a:ext cx="993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工具调用把推理引擎推向 Agent runtime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28650" y="2000250"/>
            <a:ext cx="1981200" cy="876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133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tools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47205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函数说明书</a:t>
            </a:r>
            <a:endParaRPr sz="1200" b="0">
              <a:solidFill>
                <a:srgbClr val="55555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00350" y="2000250"/>
            <a:ext cx="1981200" cy="876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933700" y="2133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tool_calls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33700" y="247205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模型生成调用请求</a:t>
            </a:r>
            <a:endParaRPr sz="1200" b="0">
              <a:solidFill>
                <a:srgbClr val="55555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972050" y="2000250"/>
            <a:ext cx="1981200" cy="876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05400" y="2133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execute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05400" y="247205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应用执行真实函数</a:t>
            </a:r>
            <a:endParaRPr sz="1200" b="0">
              <a:solidFill>
                <a:srgbClr val="55555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143750" y="2000250"/>
            <a:ext cx="1981200" cy="876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77100" y="2133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tool output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77100" y="247205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结果回传模型</a:t>
            </a:r>
            <a:endParaRPr sz="1200" b="0">
              <a:solidFill>
                <a:srgbClr val="55555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315450" y="2000250"/>
            <a:ext cx="1981200" cy="876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C6C9D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48800" y="2133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answer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48800" y="247205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模型整合回答</a:t>
            </a:r>
            <a:endParaRPr sz="1200" b="0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6957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关键点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43656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90600" y="4229100"/>
            <a:ext cx="9296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模型负责判断和填参数，应用负责执行和兜底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959350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90600" y="4805680"/>
            <a:ext cx="9296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arguments 通常是 JSON 字符串，需要解析与校验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2000" y="555307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90600" y="5382260"/>
            <a:ext cx="9296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parallel tool calls 要逐个执行并按 ID 回传</a:t>
            </a:r>
            <a:endParaRPr sz="165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Parser Layer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18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00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把模型原生格式解析成标准字段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695450"/>
            <a:ext cx="10668000" cy="590550"/>
          </a:xfrm>
          <a:prstGeom prst="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17907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400" b="1">
                <a:solidFill>
                  <a:schemeClr val="bg1"/>
                </a:solidFill>
              </a:rPr>
              <a:t>层次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184525" y="17907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400" b="1">
                <a:solidFill>
                  <a:schemeClr val="bg1"/>
                </a:solidFill>
              </a:rPr>
              <a:t>问题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6850" y="17907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400" b="1">
                <a:solidFill>
                  <a:schemeClr val="bg1"/>
                </a:solidFill>
              </a:rPr>
              <a:t>典型处理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2860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3812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协议层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84525" y="23812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OpenAI 与 Anthropic 消息格式不同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6850" y="23812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tool_calls / tool_use 转换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28765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29718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模型层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84525" y="2971800"/>
            <a:ext cx="366014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Qwen、DeepSeek、GLM、Kimi 模板不同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6850" y="29718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模型专用 parser / detector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34671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35623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流式层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84525" y="35623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JSON、XML、特殊 token 可能分片到达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6850" y="356235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增量状态机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40576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41529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思考层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84525" y="41529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thinking 与 tool call 可能互相打断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6850" y="4152900"/>
            <a:ext cx="336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reasoning parser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9425" y="5445760"/>
            <a:ext cx="1153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vLLM 更像统一 serving 层 + parser registry；SGLang 更像 detector + structural constraint 与 runtime 的结合。</a:t>
            </a:r>
            <a:endParaRPr sz="1725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Constrained Decoding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19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3260" y="781050"/>
            <a:ext cx="971804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约束解码让模型每一步只能走合法路径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1858010"/>
            <a:ext cx="4857750" cy="3048000"/>
          </a:xfrm>
          <a:prstGeom prst="roundRect">
            <a:avLst>
              <a:gd name="adj" fmla="val 8791"/>
            </a:avLst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18186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普通解码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71526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模型自由选择下一个 token，生成完再看格式是否正确。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3934460"/>
            <a:ext cx="368871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风险：JSON 坏掉、字段多余、枚举越界。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477000" y="1858010"/>
            <a:ext cx="4857750" cy="3048000"/>
          </a:xfrm>
          <a:prstGeom prst="roundRect">
            <a:avLst>
              <a:gd name="adj" fmla="val 8791"/>
            </a:avLst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781800" y="218186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chemeClr val="bg1"/>
                </a:solidFill>
              </a:rPr>
              <a:t>Grammar-constrained decoding</a:t>
            </a:r>
            <a:endParaRPr sz="1875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81800" y="2715260"/>
            <a:ext cx="416623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每一步先根据 schema / grammar 计算合法 token，再 mask 掉非法候选。</a:t>
            </a:r>
            <a:endParaRPr sz="19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81800" y="4124960"/>
            <a:ext cx="40271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chemeClr val="bg1"/>
                </a:solidFill>
              </a:rPr>
              <a:t>价值：结构合法；边界：不保证语义一定正确。</a:t>
            </a:r>
            <a:endParaRPr sz="1425" b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Tool Calling Benchmark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20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五组 tool-call 实验：从 baseline 到 strict grammar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60070" y="1974850"/>
            <a:ext cx="11239500" cy="469265"/>
          </a:xfrm>
          <a:prstGeom prst="rect">
            <a:avLst/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36270" y="2050415"/>
            <a:ext cx="2514600" cy="309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实验组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430270" y="2050415"/>
            <a:ext cx="2895600" cy="405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隔离的变量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766810" y="2040890"/>
            <a:ext cx="1626235" cy="309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对比方式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93395" y="2707005"/>
            <a:ext cx="24930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full-auto-no-structured-no-strict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3366135" y="2707640"/>
            <a:ext cx="4592320" cy="5086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模型自己判断是否调用；不开 structured；不加 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8831580" y="26416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baseline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551180" y="2997200"/>
            <a:ext cx="112395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497840" y="3241675"/>
            <a:ext cx="24930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full-auto-structured-no-strict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3366135" y="3242310"/>
            <a:ext cx="4046855" cy="405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只开 vLLM structured backend，请求不强制 schema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831580" y="3122930"/>
            <a:ext cx="1585595" cy="2495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对比第 1 组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79" name="直接连接符 78"/>
          <p:cNvSpPr>
            <a:spLocks noGrp="1"/>
          </p:cNvSpPr>
          <p:nvPr/>
        </p:nvSpPr>
        <p:spPr>
          <a:xfrm>
            <a:off x="560070" y="3544570"/>
            <a:ext cx="112395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497840" y="3776345"/>
            <a:ext cx="24930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full-auto-structured-strict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3366135" y="3776980"/>
            <a:ext cx="4258945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模型仍自己选工具；tool schema 加 strict: true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832215" y="3663315"/>
            <a:ext cx="1513205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对比第 2 组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551180" y="4058285"/>
            <a:ext cx="112395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492760" y="4241165"/>
            <a:ext cx="2670175" cy="372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positive-oracle-structured-no-strict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3366135" y="4258945"/>
            <a:ext cx="3472180" cy="349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只测正例；直接指定工具；不加 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8831580" y="4255135"/>
            <a:ext cx="1585595" cy="309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参数 baseline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551180" y="4592955"/>
            <a:ext cx="112395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493395" y="4702175"/>
            <a:ext cx="2425700" cy="2432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positive-oracle-structured-strict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3366770" y="4732020"/>
            <a:ext cx="2960370" cy="250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正例 + 指定工具 + strict: true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867775" y="4694555"/>
            <a:ext cx="1477645" cy="203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9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对比第 4 组</a:t>
            </a:r>
            <a:endParaRPr sz="12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Tool Calling Benchmark</a:t>
            </a:r>
            <a:endParaRPr sz="975" b="1">
              <a:solidFill>
                <a:srgbClr val="5F636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21</a:t>
            </a:r>
            <a:endParaRPr sz="900" b="0">
              <a:solidFill>
                <a:srgbClr val="5F63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五组 tool-call 实验：从 baseline 到 strict grammar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1065" y="2168525"/>
            <a:ext cx="9558020" cy="400050"/>
          </a:xfrm>
          <a:prstGeom prst="rect">
            <a:avLst/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6315" y="22447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case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878580" y="2244725"/>
            <a:ext cx="9163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accuracy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118100" y="22447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schema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70600" y="22447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timing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23100" y="224472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false call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66100" y="224472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avg latency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04350" y="224472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p95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01065" y="2568575"/>
            <a:ext cx="904875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96315" y="2716530"/>
            <a:ext cx="26809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 / no-structured / 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878580" y="271653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0.7520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18100" y="271653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0.9681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0600" y="271653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0.9680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23100" y="271653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0.1290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66100" y="271653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620.2 ms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04350" y="271653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1193.3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01065" y="3040380"/>
            <a:ext cx="955802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96315" y="318833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 / structured / 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78580" y="318833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0.7520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18100" y="318833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0.9681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70600" y="318833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0.9680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23100" y="318833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0.1290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66100" y="318833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620.3 ms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404350" y="318833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1193.5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901065" y="3512185"/>
            <a:ext cx="955802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96315" y="366014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full-auto / structured / 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78580" y="366014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0.7600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118100" y="366014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0.9681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70600" y="366014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0.9760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023100" y="366014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0.0968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166100" y="366014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626.9 ms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404350" y="366014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1055.8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901065" y="3983990"/>
            <a:ext cx="955802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6315" y="4131945"/>
            <a:ext cx="27590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positive-oracle / structured / no-strict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878580" y="413194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0.7021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118100" y="413194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1.0000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070600" y="413194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1.0000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023100" y="413194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n/a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66100" y="413194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425.3 ms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404350" y="413194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780.1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901065" y="4455795"/>
            <a:ext cx="955802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96315" y="4603750"/>
            <a:ext cx="2667000" cy="306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positive-oracle / structured / strict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878580" y="46037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0.7021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118100" y="46037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1.0000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070600" y="46037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1.0000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023100" y="46037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n/a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66100" y="46037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430.7 ms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404350" y="46037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779.7</a:t>
            </a:r>
            <a:endParaRPr sz="1200" b="0">
              <a:solidFill>
                <a:srgbClr val="111111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04850" y="13906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F6368"/>
                </a:solidFill>
              </a:defRPr>
            </a:pPr>
          </a:p>
        </p:txBody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Evaluation Chain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22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68680" y="781050"/>
            <a:ext cx="953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</a:rPr>
              <a:t>评测工具链把技术栈变成可比较的证据</a:t>
            </a:r>
            <a:endParaRPr sz="320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047750" y="1809750"/>
            <a:ext cx="9525000" cy="6858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962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chemeClr val="bg1"/>
                </a:solidFill>
              </a:rPr>
              <a:t>模型会不会</a:t>
            </a:r>
            <a:endParaRPr sz="210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91000" y="20002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chemeClr val="bg1"/>
                </a:solidFill>
              </a:rPr>
              <a:t>lm-eval / OpenCompass / HumanEval</a:t>
            </a:r>
            <a:endParaRPr sz="1575" b="0">
              <a:solidFill>
                <a:schemeClr val="bg1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47750" y="2914650"/>
            <a:ext cx="9525000" cy="6858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chemeClr val="bg1"/>
                </a:solidFill>
              </a:rPr>
              <a:t>服务快不快</a:t>
            </a:r>
            <a:endParaRPr sz="21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191000" y="3105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chemeClr val="bg1"/>
                </a:solidFill>
              </a:rPr>
              <a:t>vLLM bench / llm-perf / Locust</a:t>
            </a:r>
            <a:endParaRPr sz="1575" b="0">
              <a:solidFill>
                <a:schemeClr val="bg1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47750" y="4019550"/>
            <a:ext cx="9525000" cy="6858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4171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chemeClr val="bg1"/>
                </a:solidFill>
              </a:rPr>
              <a:t>长上下文是否可用</a:t>
            </a:r>
            <a:endParaRPr sz="2100" b="1">
              <a:solidFill>
                <a:schemeClr val="bg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91000" y="42100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chemeClr val="bg1"/>
                </a:solidFill>
              </a:rPr>
              <a:t>LongBench / RULER / InfiniteBench</a:t>
            </a:r>
            <a:endParaRPr sz="1575" b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5314950"/>
            <a:ext cx="914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能力评测、性能评测和长上下文评测不能互相替代；它们回答的是不同层次的问题。</a:t>
            </a:r>
            <a:endParaRPr sz="165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Capability Eval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23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16915" y="781050"/>
            <a:ext cx="96843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</a:rPr>
              <a:t>lm-eval 先形成可复现的能力评测基线</a:t>
            </a:r>
            <a:endParaRPr sz="320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2016125"/>
            <a:ext cx="2667000" cy="12573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187575"/>
            <a:ext cx="2324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0.6831</a:t>
            </a:r>
            <a:endParaRPr sz="300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6828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lm-eval arc_easy acc</a:t>
            </a:r>
            <a:endParaRPr sz="12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930525"/>
            <a:ext cx="232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chemeClr val="bg1"/>
                </a:solidFill>
              </a:rPr>
              <a:t>Qwen2.5-7B-Instruct</a:t>
            </a:r>
            <a:endParaRPr sz="975" b="0">
              <a:solidFill>
                <a:schemeClr val="bg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619500" y="2016125"/>
            <a:ext cx="2857500" cy="12573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790950" y="2187575"/>
            <a:ext cx="2514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0.6538</a:t>
            </a:r>
            <a:endParaRPr sz="3000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90950" y="2682875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lm-eval hellaswag acc_norm</a:t>
            </a:r>
            <a:endParaRPr sz="1200" b="1">
              <a:solidFill>
                <a:schemeClr val="bg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90950" y="29305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chemeClr val="bg1"/>
                </a:solidFill>
              </a:rPr>
              <a:t>全量 0-shot</a:t>
            </a:r>
            <a:endParaRPr sz="975" b="0">
              <a:solidFill>
                <a:schemeClr val="bg1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43700" y="2016125"/>
            <a:ext cx="2476500" cy="1257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915150" y="2187575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2376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15150" y="268287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ARC-Easy 样本数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15150" y="2930525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full run，0-shot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486900" y="2016125"/>
            <a:ext cx="2000250" cy="12573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658350" y="2187575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10042</a:t>
            </a:r>
            <a:endParaRPr sz="300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58350" y="26828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HellaSwag 样本数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58350" y="293052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full run，0-shot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57250" y="4149725"/>
            <a:ext cx="9906000" cy="95250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42670" y="4311015"/>
            <a:ext cx="9537700" cy="58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它用固定任务、固定模型和 0-shot 设置跑完整数据集，ARC-Easy 与 HellaSwag 的分数可以作为后续复现实验的第一版基线。</a:t>
            </a:r>
            <a:endParaRPr sz="1575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Serving Eval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24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118743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</a:rPr>
              <a:t>性能评测</a:t>
            </a:r>
            <a:r>
              <a:rPr lang="zh-CN" sz="3200" b="1">
                <a:solidFill>
                  <a:srgbClr val="000000"/>
                </a:solidFill>
              </a:rPr>
              <a:t>基线——</a:t>
            </a:r>
            <a:r>
              <a:rPr sz="3200" b="1">
                <a:solidFill>
                  <a:srgbClr val="000000"/>
                </a:solidFill>
              </a:rPr>
              <a:t>把输入长度和输出长度的压力拆开看</a:t>
            </a:r>
            <a:endParaRPr sz="320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838960"/>
            <a:ext cx="10790555" cy="628650"/>
          </a:xfrm>
          <a:prstGeom prst="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workload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892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input/output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307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req/s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722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mean TTFT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137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mean TPOT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855200" y="1934210"/>
            <a:ext cx="165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mean E2E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short_in_short_out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892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128 / 128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307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3.7558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722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85.40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137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12.74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855200" y="25628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1703.95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long_in_short_out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4892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2048 / 128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307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3.6193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722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288.56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137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22.62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855200" y="319151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3161.64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long_in_long_out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892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2048 / 512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307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1.9363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722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78.77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137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14.13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855200" y="3820160"/>
            <a:ext cx="173228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22222"/>
                </a:solidFill>
              </a:defRPr>
            </a:pPr>
            <a:r>
              <a:rPr sz="1400" b="0">
                <a:solidFill>
                  <a:srgbClr val="222222"/>
                </a:solidFill>
              </a:rPr>
              <a:t>7296.80 ms</a:t>
            </a:r>
            <a:endParaRPr sz="1400" b="0">
              <a:solidFill>
                <a:srgbClr val="222222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5010150"/>
            <a:ext cx="1094549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0">
                <a:solidFill>
                  <a:schemeClr val="tx1"/>
                </a:solidFill>
              </a:rPr>
              <a:t>长输入短输出显著拉高 TTFT，说明 prefill 压力增加；长输入长输出 E2E 最高，主要由 decode 阶段驱动。</a:t>
            </a:r>
            <a:endParaRPr sz="1800" b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302006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361061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圆角矩形 18"/>
          <p:cNvSpPr>
            <a:spLocks noGrp="1"/>
          </p:cNvSpPr>
          <p:nvPr/>
        </p:nvSpPr>
        <p:spPr>
          <a:xfrm>
            <a:off x="4511675" y="1988820"/>
            <a:ext cx="2952750" cy="2571750"/>
          </a:xfrm>
          <a:prstGeom prst="roundRect">
            <a:avLst>
              <a:gd name="adj" fmla="val 9283"/>
            </a:avLst>
          </a:prstGeom>
          <a:solidFill>
            <a:srgbClr val="F6F6F6"/>
          </a:solidFill>
          <a:ln w="9525">
            <a:solidFill>
              <a:srgbClr val="E1E4E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Long Context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25</a:t>
            </a:r>
            <a:endParaRPr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5665" y="781050"/>
            <a:ext cx="952563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长上下文</a:t>
            </a:r>
            <a:r>
              <a:rPr lang="zh-CN" sz="3450" b="1">
                <a:solidFill>
                  <a:srgbClr val="000000"/>
                </a:solidFill>
              </a:rPr>
              <a:t>的三个</a:t>
            </a:r>
            <a:r>
              <a:rPr lang="zh-CN" sz="3450" b="1">
                <a:solidFill>
                  <a:srgbClr val="000000"/>
                </a:solidFill>
              </a:rPr>
              <a:t>测评维度</a:t>
            </a:r>
            <a:endParaRPr lang="zh-CN" sz="345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962150"/>
            <a:ext cx="2952750" cy="2571750"/>
          </a:xfrm>
          <a:prstGeom prst="roundRect">
            <a:avLst>
              <a:gd name="adj" fmla="val 9283"/>
            </a:avLst>
          </a:prstGeom>
          <a:solidFill>
            <a:srgbClr val="F6F6F6"/>
          </a:solidFill>
          <a:ln w="9525">
            <a:solidFill>
              <a:srgbClr val="E1E4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chemeClr val="tx1"/>
                </a:solidFill>
              </a:rPr>
              <a:t>能力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9908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chemeClr val="tx1"/>
                </a:solidFill>
              </a:rPr>
              <a:t>LongBench / RULER</a:t>
            </a:r>
            <a:endParaRPr sz="1575" b="1">
              <a:solidFill>
                <a:schemeClr val="tx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7528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chemeClr val="tx1"/>
                </a:solidFill>
              </a:rPr>
              <a:t>模型能否利用长距离信息</a:t>
            </a:r>
            <a:endParaRPr sz="1425" b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2440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chemeClr val="tx1"/>
                </a:solidFill>
              </a:rPr>
              <a:t>性能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24400" y="29908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chemeClr val="tx1"/>
                </a:solidFill>
              </a:rPr>
              <a:t>vLLM benchmark</a:t>
            </a:r>
            <a:endParaRPr sz="1575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24400" y="37528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chemeClr val="tx1"/>
                </a:solidFill>
              </a:rPr>
              <a:t>长输入是否拖慢 TTFT 和吞吐</a:t>
            </a:r>
            <a:endParaRPr sz="1425" b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15300" y="1962150"/>
            <a:ext cx="2952750" cy="2571750"/>
          </a:xfrm>
          <a:prstGeom prst="roundRect">
            <a:avLst>
              <a:gd name="adj" fmla="val 9259"/>
            </a:avLst>
          </a:prstGeom>
          <a:solidFill>
            <a:srgbClr val="041C3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chemeClr val="bg1"/>
                </a:solidFill>
              </a:rPr>
              <a:t>机制</a:t>
            </a:r>
            <a:endParaRPr sz="2400" b="1">
              <a:solidFill>
                <a:schemeClr val="bg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29908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chemeClr val="bg1"/>
                </a:solidFill>
              </a:rPr>
              <a:t>StreamingLLM / sliding window</a:t>
            </a:r>
            <a:endParaRPr sz="1575" b="1">
              <a:solidFill>
                <a:schemeClr val="bg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37528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chemeClr val="bg1"/>
                </a:solidFill>
              </a:rPr>
              <a:t>如何控制 KV cache 增长</a:t>
            </a:r>
            <a:endParaRPr sz="1425" b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52768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StreamingLLM 的 attention sink 能稳定持续生成，但不等于扩展了模型对已丢弃历史的长期记忆。</a:t>
            </a:r>
            <a:endParaRPr sz="165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lang="en-US" sz="1050" b="1">
                <a:solidFill>
                  <a:srgbClr val="555555"/>
                </a:solidFill>
              </a:rPr>
              <a:t>Streaming</a:t>
            </a:r>
            <a:r>
              <a:rPr lang="en-US" sz="1050" b="1">
                <a:solidFill>
                  <a:srgbClr val="555555"/>
                </a:solidFill>
              </a:rPr>
              <a:t>LLM</a:t>
            </a:r>
            <a:endParaRPr lang="en-US"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</a:t>
            </a:r>
            <a:r>
              <a:rPr lang="en-US" sz="900" b="0">
                <a:solidFill>
                  <a:srgbClr val="555555"/>
                </a:solidFill>
              </a:rPr>
              <a:t>6</a:t>
            </a:r>
            <a:endParaRPr lang="en-US"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5665" y="781050"/>
            <a:ext cx="952563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lang="zh-CN" altLang="en-US" sz="3450" b="1">
                <a:solidFill>
                  <a:srgbClr val="000000"/>
                </a:solidFill>
              </a:rPr>
              <a:t>用 </a:t>
            </a:r>
            <a:r>
              <a:rPr lang="en-US" altLang="zh-CN" sz="3450" b="1">
                <a:solidFill>
                  <a:srgbClr val="000000"/>
                </a:solidFill>
              </a:rPr>
              <a:t>attention sink </a:t>
            </a:r>
            <a:r>
              <a:rPr lang="zh-CN" altLang="en-US" sz="3450" b="1">
                <a:solidFill>
                  <a:srgbClr val="000000"/>
                </a:solidFill>
              </a:rPr>
              <a:t>稳住长序列生成</a:t>
            </a:r>
            <a:endParaRPr lang="zh-CN" altLang="en-US" sz="3450" b="1">
              <a:solidFill>
                <a:srgbClr val="00000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3760" y="1657350"/>
            <a:ext cx="10499725" cy="609600"/>
          </a:xfrm>
          <a:prstGeom prst="round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20" name="文本框 19"/>
          <p:cNvSpPr txBox="1"/>
          <p:nvPr/>
        </p:nvSpPr>
        <p:spPr>
          <a:xfrm>
            <a:off x="1019175" y="1772920"/>
            <a:ext cx="101682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F6F6F6"/>
                </a:solidFill>
              </a:rPr>
              <a:t>普通 </a:t>
            </a:r>
            <a:r>
              <a:rPr lang="en-US" altLang="zh-CN" sz="1600">
                <a:solidFill>
                  <a:srgbClr val="F6F6F6"/>
                </a:solidFill>
              </a:rPr>
              <a:t>Transformer </a:t>
            </a:r>
            <a:r>
              <a:rPr lang="zh-CN" altLang="en-US" sz="1600">
                <a:solidFill>
                  <a:srgbClr val="F6F6F6"/>
                </a:solidFill>
              </a:rPr>
              <a:t>在持续生成很长文本时，</a:t>
            </a:r>
            <a:r>
              <a:rPr lang="en-US" altLang="zh-CN" sz="1600">
                <a:solidFill>
                  <a:srgbClr val="F6F6F6"/>
                </a:solidFill>
              </a:rPr>
              <a:t>KV Cache </a:t>
            </a:r>
            <a:r>
              <a:rPr lang="zh-CN" altLang="en-US" sz="1600">
                <a:solidFill>
                  <a:srgbClr val="F6F6F6"/>
                </a:solidFill>
              </a:rPr>
              <a:t>会不断增长；如果直接丢掉最早 </a:t>
            </a:r>
            <a:r>
              <a:rPr lang="en-US" altLang="zh-CN" sz="1600">
                <a:solidFill>
                  <a:srgbClr val="F6F6F6"/>
                </a:solidFill>
              </a:rPr>
              <a:t>token</a:t>
            </a:r>
            <a:r>
              <a:rPr lang="zh-CN" altLang="en-US" sz="1600">
                <a:solidFill>
                  <a:srgbClr val="F6F6F6"/>
                </a:solidFill>
              </a:rPr>
              <a:t>，模型输出容易崩。</a:t>
            </a:r>
            <a:endParaRPr lang="zh-CN" altLang="en-US" sz="1600">
              <a:solidFill>
                <a:srgbClr val="F6F6F6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73760" y="2637155"/>
            <a:ext cx="104711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解决</a:t>
            </a:r>
            <a:r>
              <a:rPr lang="zh-CN" altLang="en-US" sz="1600"/>
              <a:t>方法：模型会持续关注最开头的少量 </a:t>
            </a:r>
            <a:r>
              <a:rPr lang="en-US" altLang="zh-CN" sz="1600"/>
              <a:t>token</a:t>
            </a:r>
            <a:r>
              <a:rPr lang="zh-CN" altLang="en-US" sz="1600"/>
              <a:t>，即使这些 </a:t>
            </a:r>
            <a:r>
              <a:rPr lang="en-US" altLang="zh-CN" sz="1600"/>
              <a:t>token </a:t>
            </a:r>
            <a:r>
              <a:rPr lang="zh-CN" altLang="en-US" sz="1600"/>
              <a:t>本身没有语义价值。这些 </a:t>
            </a:r>
            <a:r>
              <a:rPr lang="en-US" altLang="zh-CN" sz="1600"/>
              <a:t>token </a:t>
            </a:r>
            <a:r>
              <a:rPr lang="zh-CN" altLang="en-US" sz="1600"/>
              <a:t>像 </a:t>
            </a:r>
            <a:r>
              <a:rPr lang="en-US" altLang="zh-CN" sz="1600"/>
              <a:t>attention </a:t>
            </a:r>
            <a:r>
              <a:rPr lang="zh-CN" altLang="en-US" sz="1600"/>
              <a:t>的“锚点”，论文里叫 </a:t>
            </a:r>
            <a:r>
              <a:rPr lang="en-US" altLang="zh-CN" sz="1600"/>
              <a:t>attention sink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75665" y="3755390"/>
            <a:ext cx="3456305" cy="6096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41495" y="3755390"/>
            <a:ext cx="3456305" cy="60960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 w="9525">
            <a:solidFill>
              <a:srgbClr val="C7CDD4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807325" y="3755390"/>
            <a:ext cx="3456305" cy="609600"/>
          </a:xfrm>
          <a:prstGeom prst="roundRect">
            <a:avLst>
              <a:gd name="adj" fmla="val 6897"/>
            </a:avLst>
          </a:prstGeom>
          <a:solidFill>
            <a:srgbClr val="061F33"/>
          </a:solidFill>
          <a:ln w="9525">
            <a:solidFill>
              <a:srgbClr val="061F33"/>
            </a:solidFill>
            <a:prstDash val="solid"/>
          </a:ln>
        </p:spPr>
      </p:sp>
      <p:sp>
        <p:nvSpPr>
          <p:cNvPr id="25" name="文本框 24"/>
          <p:cNvSpPr txBox="1"/>
          <p:nvPr/>
        </p:nvSpPr>
        <p:spPr>
          <a:xfrm>
            <a:off x="1651635" y="3891280"/>
            <a:ext cx="16865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6F6F6"/>
                </a:solidFill>
                <a:sym typeface="+mn-ea"/>
              </a:rPr>
              <a:t>少量 </a:t>
            </a:r>
            <a:r>
              <a:rPr lang="en-US" altLang="zh-CN" sz="1600">
                <a:solidFill>
                  <a:srgbClr val="F6F6F6"/>
                </a:solidFill>
                <a:sym typeface="+mn-ea"/>
              </a:rPr>
              <a:t>sink tokens</a:t>
            </a:r>
            <a:endParaRPr lang="en-US" altLang="zh-CN" sz="1600">
              <a:solidFill>
                <a:srgbClr val="F6F6F6"/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8300" y="3891280"/>
            <a:ext cx="31483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6F6F6"/>
                </a:solidFill>
                <a:sym typeface="+mn-ea"/>
              </a:rPr>
              <a:t>最近一段 </a:t>
            </a:r>
            <a:r>
              <a:rPr lang="en-US" altLang="zh-CN" sz="1600">
                <a:solidFill>
                  <a:srgbClr val="F6F6F6"/>
                </a:solidFill>
                <a:sym typeface="+mn-ea"/>
              </a:rPr>
              <a:t>sliding window tokens</a:t>
            </a:r>
            <a:endParaRPr lang="en-US" altLang="zh-CN" sz="1600">
              <a:solidFill>
                <a:srgbClr val="F6F6F6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92040" y="3891280"/>
            <a:ext cx="21945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sym typeface="+mn-ea"/>
              </a:rPr>
              <a:t>中间很早的历史 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token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99965" y="3573145"/>
            <a:ext cx="71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6B35"/>
                </a:solidFill>
              </a:rPr>
              <a:t>去掉</a:t>
            </a:r>
            <a:endParaRPr lang="zh-CN" altLang="en-US">
              <a:solidFill>
                <a:srgbClr val="FF6B35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83615" y="5343525"/>
            <a:ext cx="102800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StreamingLLM </a:t>
            </a:r>
            <a:r>
              <a:rPr lang="zh-CN" altLang="en-US" sz="1600" b="1"/>
              <a:t>不是让模型拥有无限长记忆。它能让模型稳定继续生成，</a:t>
            </a:r>
            <a:endParaRPr lang="zh-CN" altLang="en-US" sz="1600" b="1"/>
          </a:p>
          <a:p>
            <a:pPr algn="ctr"/>
            <a:r>
              <a:rPr lang="zh-CN" altLang="en-US" sz="1600" b="1"/>
              <a:t>但</a:t>
            </a:r>
            <a:r>
              <a:rPr lang="zh-CN" altLang="en-US" sz="1600" b="1"/>
              <a:t>被丢弃的中间历史信息，模型通常已经不能精确回忆。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Benchmark Blueprint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</a:t>
            </a:r>
            <a:r>
              <a:rPr lang="en-US" sz="900" b="0">
                <a:solidFill>
                  <a:srgbClr val="555555"/>
                </a:solidFill>
              </a:rPr>
              <a:t>7</a:t>
            </a:r>
            <a:endParaRPr lang="en-US"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81050"/>
            <a:ext cx="1000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下一阶段需要一套能力与性能联合评测模板</a:t>
            </a:r>
            <a:endParaRPr sz="345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1638300"/>
            <a:ext cx="10858500" cy="609600"/>
          </a:xfrm>
          <a:prstGeom prst="rect">
            <a:avLst/>
          </a:prstGeom>
          <a:solidFill>
            <a:srgbClr val="041C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7335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模块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44240" y="17335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记录内容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24800" y="17335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bg1"/>
                </a:solidFill>
              </a:rPr>
              <a:t>为什么重要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224790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3431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模型能力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44240" y="23431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任务、metric、prompt、原始输出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24800" y="23431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证明模型会不会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285750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29527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服务性能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44240" y="29527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TTFT、TPOT、E2E、tokens/s、显存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24800" y="29527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证明线上跑得快不快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346710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35623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工具调用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44240" y="35623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tool selection、schema valid、raw markup leakage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24800" y="35623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证明 Agent 能力是否可靠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407670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41719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长上下文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44240" y="41719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输入长度、正确率、KV 压力、启动参数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24800" y="41719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22222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证明长上下文是否真的可用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410200"/>
            <a:ext cx="1007237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每次报告都必须保留模型、硬件、软件版本、启动参数、评测参数、原始 JSON 和完整日志路径。</a:t>
            </a:r>
            <a:endParaRPr sz="1725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285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Synthesis</a:t>
            </a:r>
            <a:endParaRPr sz="105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728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2</a:t>
            </a:r>
            <a:r>
              <a:rPr lang="en-US" sz="900" b="0">
                <a:solidFill>
                  <a:srgbClr val="555555"/>
                </a:solidFill>
              </a:rPr>
              <a:t>8</a:t>
            </a:r>
            <a:endParaRPr lang="en-US" sz="9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95960" y="781050"/>
            <a:ext cx="1096391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200" b="1">
                <a:solidFill>
                  <a:srgbClr val="000000"/>
                </a:solidFill>
              </a:rPr>
              <a:t>这个月建立的是从计算底座到推理系统的完整问题意识</a:t>
            </a:r>
            <a:endParaRPr sz="3200" b="1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962150"/>
            <a:ext cx="2266950" cy="15621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247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chemeClr val="bg1"/>
                </a:solidFill>
              </a:rPr>
              <a:t>Serving</a:t>
            </a:r>
            <a:endParaRPr sz="2025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2857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chemeClr val="bg1"/>
                </a:solidFill>
              </a:rPr>
              <a:t>选择 runtime</a:t>
            </a:r>
            <a:endParaRPr sz="1500" b="0">
              <a:solidFill>
                <a:schemeClr val="bg1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505200" y="1962150"/>
            <a:ext cx="2266950" cy="15621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95700" y="2247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chemeClr val="bg1"/>
                </a:solidFill>
              </a:rPr>
              <a:t>KV Cache</a:t>
            </a:r>
            <a:endParaRPr sz="2025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95700" y="2857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chemeClr val="bg1"/>
                </a:solidFill>
              </a:rPr>
              <a:t>解释瓶颈</a:t>
            </a:r>
            <a:endParaRPr sz="1500" b="0">
              <a:solidFill>
                <a:schemeClr val="bg1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29350" y="1962150"/>
            <a:ext cx="2266950" cy="15621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19850" y="2247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chemeClr val="bg1"/>
                </a:solidFill>
              </a:rPr>
              <a:t>Tool Calling</a:t>
            </a:r>
            <a:endParaRPr sz="2025" b="1">
              <a:solidFill>
                <a:schemeClr val="bg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2857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chemeClr val="bg1"/>
                </a:solidFill>
              </a:rPr>
              <a:t>支撑 Agent</a:t>
            </a:r>
            <a:endParaRPr sz="1500" b="0">
              <a:solidFill>
                <a:schemeClr val="bg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953500" y="1962150"/>
            <a:ext cx="2266950" cy="1562100"/>
          </a:xfrm>
          <a:prstGeom prst="roundRect">
            <a:avLst/>
          </a:prstGeom>
          <a:solidFill>
            <a:srgbClr val="041C32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44000" y="2247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chemeClr val="bg1"/>
                </a:solidFill>
              </a:rPr>
              <a:t>Evaluation</a:t>
            </a:r>
            <a:endParaRPr sz="2025" b="1">
              <a:solidFill>
                <a:schemeClr val="bg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44000" y="2857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chemeClr val="bg1"/>
                </a:solidFill>
              </a:rPr>
              <a:t>形成闭环</a:t>
            </a:r>
            <a:endParaRPr sz="1500" b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1225" y="4705350"/>
            <a:ext cx="103066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000" b="1">
                <a:solidFill>
                  <a:srgbClr val="000000"/>
                </a:solidFill>
              </a:rPr>
              <a:t>推理引擎不是模型之后的附属工具，而是从 attention 计算到线上服务的系统层。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3450" y="521970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推理优化不是单点技巧，而是从 attention kernel 到 serving runtime、再到 benchmark 和评测闭环的系统工程。</a:t>
            </a:r>
            <a:endParaRPr sz="165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8442</Words>
  <Application>WPS 演示</Application>
  <PresentationFormat>Converted Presentation</PresentationFormat>
  <Paragraphs>1078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Songti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Times New Roman</vt:lpstr>
      <vt:lpstr>MS PGothic</vt:lpstr>
      <vt:lpstr>苹方-简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潇潇</cp:lastModifiedBy>
  <cp:revision>3</cp:revision>
  <dcterms:created xsi:type="dcterms:W3CDTF">2026-07-03T08:53:17Z</dcterms:created>
  <dcterms:modified xsi:type="dcterms:W3CDTF">2026-07-03T08:53:17Z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3F2505B8617E253D413B476A14E99623_42</vt:lpwstr>
  </property>
  <property fmtid="{D5CDD505-2E9C-101B-9397-08002B2CF9AE}" pid="3" name="KSOProductBuildVer">
    <vt:lpwstr>2052-12.1.25895.25895</vt:lpwstr>
  </property>
</Properties>
</file>